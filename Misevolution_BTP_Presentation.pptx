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85D4E"/>
                </a:solidFill>
                <a:latin typeface="Calibri"/>
              </a:rPr>
              <a:t>EMERGENT AI SAFETY  ·  ICLR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 Light"/>
              </a:rPr>
              <a:t>Your Agent May Misevolve</a:t>
            </a:r>
          </a:p>
          <a:p>
            <a:pPr algn="l">
              <a:spcBef>
                <a:spcPts val="600"/>
              </a:spcBef>
            </a:pPr>
            <a:r>
              <a:rPr sz="2600" b="0" i="0">
                <a:solidFill>
                  <a:srgbClr val="C7D0E0"/>
                </a:solidFill>
                <a:latin typeface="Calibri"/>
              </a:rPr>
              <a:t>Emergent Risks in Self-Evolving LLM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D8DEEA"/>
                </a:solidFill>
                <a:latin typeface="Calibri"/>
              </a:rPr>
              <a:t>An in-depth walkthrough of the paper  +  a hands-on reproduction of all four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D8DEEA"/>
                </a:solidFill>
                <a:latin typeface="Calibri"/>
              </a:rPr>
              <a:t>misevolution pathways using free, openly-accessible models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5257800"/>
            <a:ext cx="201168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5156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9AA5B8"/>
                </a:solidFill>
                <a:latin typeface="Calibri"/>
              </a:rPr>
              <a:t>B.Tech Project  ·  Paper study &amp; empirical reproduction</a:t>
            </a:r>
          </a:p>
          <a:p>
            <a:pPr algn="l">
              <a:spcBef>
                <a:spcPts val="700"/>
              </a:spcBef>
            </a:pPr>
            <a:r>
              <a:rPr sz="1400" b="1" i="0">
                <a:solidFill>
                  <a:srgbClr val="2A9D8F"/>
                </a:solidFill>
                <a:latin typeface="Calibri"/>
              </a:rPr>
              <a:t>github.com/Mayank471/Misevolutions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D4E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What this talk covers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457200" cy="713232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8249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157276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165506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I — Concepts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What self-evolving agents are, what “misevolution” means, and why it is a new class of risk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95728"/>
            <a:ext cx="457200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0545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239572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247802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II — The four pathways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Model, Memory, Tool, and Workflow: the mechanism behind each failure mode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218688"/>
            <a:ext cx="457200" cy="713232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321868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330098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III — Results from the paper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Key quantitative findings the authors report for every pathway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041648"/>
            <a:ext cx="457200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5137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404164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412394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IV — My reproduction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Re-running all four pathways with free models, and how the numbers compare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864608"/>
            <a:ext cx="457200" cy="713232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97433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486460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4440" y="494690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V — Mitigations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What helps against each pathway — and why every fix is only partial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687568"/>
            <a:ext cx="457200" cy="713232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79729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568756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4440" y="576986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VI — Beyond the paper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Two risks beyond the four: multi-agent co-evolution and systemic contagion between components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5D4E"/>
                </a:solidFill>
                <a:latin typeface="Calibri"/>
              </a:rPr>
              <a:t>PART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Understanding Misevolution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What self-evolving agents are, and how their self-improvement can quietly go wrong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What is a self-evolving agent?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282C35"/>
                </a:solidFill>
                <a:latin typeface="Calibri"/>
              </a:rPr>
              <a:t>Unlike a static LLM, a self-evolving agent keeps improving itself by interacting with its environment — it updates one or more of its own components using feedback from the tasks it performs.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51760"/>
            <a:ext cx="2697480" cy="173736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Fine-tunes its own
weights on self-
generated 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2651760"/>
            <a:ext cx="2697480" cy="17373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74136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1296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Stores &amp; retrieves
past experience to
guide new tasks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2651760"/>
            <a:ext cx="2697480" cy="173736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9632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Creates, reuses &amp;
ingests new tools
(e.g. MCP servers)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5128" y="2651760"/>
            <a:ext cx="2697480" cy="173736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5128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2288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Re-optimizes its own
multi-step / multi-
agent 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91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6213E"/>
                </a:solidFill>
                <a:latin typeface="Calibri"/>
              </a:rPr>
              <a:t>θ = (Model, Memory, Tool, Workflow)   →   evolution function  θ′ = f(θ, τ, 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257800"/>
            <a:ext cx="11064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2A9D8F"/>
                </a:solidFill>
                <a:latin typeface="Calibri"/>
              </a:rPr>
              <a:t>▪  </a:t>
            </a:r>
            <a:r>
              <a:rPr sz="1400">
                <a:solidFill>
                  <a:srgbClr val="282C35"/>
                </a:solidFill>
                <a:latin typeface="Calibri"/>
              </a:rPr>
              <a:t>Goal of the designer: pick f that maximises cumulative task performance over time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A9D8F"/>
                </a:solidFill>
                <a:latin typeface="Calibri"/>
              </a:rPr>
              <a:t>▪  </a:t>
            </a:r>
            <a:r>
              <a:rPr sz="1400">
                <a:solidFill>
                  <a:srgbClr val="282C35"/>
                </a:solidFill>
                <a:latin typeface="Calibri"/>
              </a:rPr>
              <a:t>Examples: Absolute-Zero (model), AgentNet / SE-Agent (memory), Alita (tool), AFlow (workflow)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D4E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Misevolution: when self-improvement backfires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11064240" cy="14173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109728" cy="141732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16213E"/>
                </a:solidFill>
                <a:latin typeface="Calibri"/>
              </a:rPr>
              <a:t>“Misevolution is an emergent decay of safety or the emergence of new risks that arises from an agent’s own self-evolution — leading to undesirable or even harmful outcomes.”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375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82C35"/>
                </a:solidFill>
                <a:latin typeface="Calibri"/>
              </a:rPr>
              <a:t>Three intuitive examples from the paper: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840480"/>
            <a:ext cx="3611880" cy="2011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840480"/>
            <a:ext cx="82296" cy="20116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39867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Biased memory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407408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2A9D8F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 service agent learns “refund → 5-star rating,” then hands out refunds nobody asked for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9392" y="3840480"/>
            <a:ext cx="3611880" cy="2011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3840480"/>
            <a:ext cx="82296" cy="201168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39867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DD8852"/>
                </a:solidFill>
                <a:latin typeface="Calibri"/>
              </a:rPr>
              <a:t>Insecure tool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4407408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DD8852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An agent ingests appealing-but-backdoored code and builds a tool that leaks SSH keys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0144" y="3840480"/>
            <a:ext cx="3611880" cy="2011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3840480"/>
            <a:ext cx="82296" cy="201168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39867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DD8852"/>
                </a:solidFill>
                <a:latin typeface="Calibri"/>
              </a:rPr>
              <a:t>Careless reuse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4407408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DD8852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 general PII-scrubber tool is reused on medical data, missing re-identifiable fields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D4E"/>
                </a:solidFill>
                <a:latin typeface="Calibri"/>
              </a:rPr>
              <a:t>WHY IT'S A NEW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How misevolution differs from known LLM threats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440680" cy="8229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4767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85D4E"/>
                </a:solidFill>
                <a:latin typeface="Calibri"/>
              </a:rPr>
              <a:t>1  Temporal emergence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Risk appears over time as components change — not in a static “snapshot” like jailbreak tests.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69164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691640"/>
            <a:ext cx="544068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4767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4C72B0"/>
                </a:solidFill>
                <a:latin typeface="Calibri"/>
              </a:rPr>
              <a:t>2  Self-generated vulnerability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6032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The agent creates the risk itself, with no external attacker or curated bad data.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02336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023360"/>
            <a:ext cx="544068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7939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DD8852"/>
                </a:solidFill>
                <a:latin typeface="Calibri"/>
              </a:rPr>
              <a:t>3  Limited data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8920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Autonomy means we can't inject safety data mid-training the way fine-tuning pipelines do.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402336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4023360"/>
            <a:ext cx="544068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27939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8172B3"/>
                </a:solidFill>
                <a:latin typeface="Calibri"/>
              </a:rPr>
              <a:t>4  Expanded risk surface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8920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Any of the 4 evolving components can fail — and real-world tool use turns a flaw into real harm.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A616B"/>
                </a:solidFill>
                <a:latin typeface="Calibri"/>
              </a:rPr>
              <a:t>Contrast: emergent misalignment (Betley 2025) needs deliberate fine-tuning on insecure code; misevolution appears spontaneously.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THE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Four evolutionary pathways — four ways to misevolve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The paper studies misevolution systematically along the same four components an agent can evolve: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48840"/>
            <a:ext cx="2286000" cy="932688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9514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self-generated data / curriculum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2148840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4680" y="2331720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Safety alignment erodes as the model re-trains on its own outputs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172968"/>
            <a:ext cx="2286000" cy="93268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319272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67588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accumulation &amp; retrieval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3172968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54680" y="3355848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Biased experience → reward hacking &amp; loss of risk awareness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197096"/>
            <a:ext cx="2286000" cy="932688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34340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0016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creation-reuse &amp; ingesting external tools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0" y="4197096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54680" y="4379976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Vulnerable tools get built, reused out-of-context, or imported with hidden malware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221224"/>
            <a:ext cx="2286000" cy="932688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36752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2414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automatic pipeline optimization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5221224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54680" y="5404104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Performance-driven search yields an innocuous-looking but unsafe workflow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C72B0"/>
                </a:solidFill>
                <a:latin typeface="Calibri"/>
              </a:rPr>
              <a:t>PATHWAY 1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Model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72B0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Agent fine-tunes its own weights via self-play (Absolute-Zero) or a self-generated curriculum (SEAgent)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Task ability goes UP, but safety alignment goes DOWN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Degradation is cumulative — each training step erodes refusal a little more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“Catastrophic forgetting” of risk awareness: it stops refusing harmful instructions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72B0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Safety alignment is shallow — a thin post-training layer, easily overwritten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Optimization pressure toward the task reward dominates the safety objective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Strikingly, this happens even when the self-generated data is completely benign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The model chases capability; nothing in the loop defends safety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Key insight: safety decays even with no unsafe data in the loop — the optimization objective alone is enough.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PATHWAY 2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Memory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Agent stores past (action, feedback) pairs and retrieves them for new tasks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Two failures emerge: (a) safety-alignment decay, (b) deployment-time reward hacking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It learns shortcuts correlated with high historical reward …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… e.g. “always refund”, or reassure a user who says they've been shot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Over-trust in its own past experience, with no critical reflection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Reward signals in memory (ratings) become a proxy that overrides the true goal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Survivorship bias: harmful outcomes leave no feedback, so memory looks rosy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A single lucky incident can flip a heuristic — misevolution can be abrupt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No weight updates needed — merely accumulating memory can hijack the agent's decisions.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PATHWAY 3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Tool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D8852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Creation &amp; reuse: builds an MCP tool for one task, reuses it in a security-sensitive one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e.g. a tar-extractor with no path-traversal guard, later fed ../etc/passwd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Ingesting external tools: wraps code pulled from GitHub into a new tool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Hidden, dormant malware slips through — refusal rate near 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D8852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 “trust bias”: the agent assumes existing code / its own tools are safe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Tools are reused out of their original context — domain-specific risks are missed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Stealthy payloads are designed to pass inspection and trigger only later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Stronger coding ability ≠ stronger threat detection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Vulnerabilities are created and then silently propagated through the tool life-cycle.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PATHWAY 4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Workflow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172B3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 framework (AFlow) searches over workflows to maximise task accuracy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The optimized workflow looks completely innocuous (an ensemble of 3 trials)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Yet an Ensemble node cascades and amplifies unsafe behaviour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It prefers the “most complete” candidate — which is the working malware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172B3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Optimization target is accuracy / consistency — safety is never in the objective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“Most consistent with the spec” gets interpreted as “most fully-implemented”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 refusal or a print()-only stub loses to a real C2/spam implementation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The failure is emergent — no single node is obviously malicious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An innocent-looking aggregation step can turn safe candidates into a more harmful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72B0"/>
                </a:solidFill>
                <a:latin typeface="Calibri"/>
              </a:rPr>
              <a:t>PART III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Results from the Paper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What the authors measured across top-tier models — GPT-5, Gemini-2.5-Pro, Claude-4-Sonnet, Qwen3…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C72B0"/>
                </a:solidFill>
                <a:latin typeface="Calibri"/>
              </a:rPr>
              <a:t>SELF-TRAINING SAFETY DECAY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4C72B0"/>
                </a:solidFill>
                <a:latin typeface="Calibri Light"/>
              </a:rPr>
              <a:t>↓ 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Safe Rate on HarmBench,
SALAD-Bench, HEx-PHI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every model, after self-train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4C72B0"/>
                </a:solidFill>
                <a:latin typeface="Calibri Light"/>
              </a:rPr>
              <a:t>31% → 0.6%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RedCode-Gen Refusal Rate
(Abs-Zero-Coder-7B)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risky-code refusal collapses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4C72B0"/>
                </a:solidFill>
                <a:latin typeface="Calibri Light"/>
              </a:rPr>
              <a:t>39% → 55%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SEAgent Unsafe Completion
on RiOSWorld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computer-use agent, after evo.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Consistent, cumulative safety decline across all self-trained models (Fig. 3 &amp; 5)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SEAgent loses the ability to refuse harmful GUI instructions and to avoid phishing sites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Ablation: SFT on benign self-play data still degrades safety — optimization pressure is the root cause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ACCUMULATION → REWARD HACKING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Memory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2A9D8F"/>
                </a:solidFill>
                <a:latin typeface="Calibri Light"/>
              </a:rPr>
              <a:t>99% → 54%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SE-Agent Refusal Rate
(Qwen3-Coder-480B)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−45% after memory evo.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2A9D8F"/>
                </a:solidFill>
                <a:latin typeface="Calibri Light"/>
              </a:rPr>
              <a:t>0.6% → 21%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Attack Success Rate
on RedCode-Gen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harmful code slips through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2A9D8F"/>
                </a:solidFill>
                <a:latin typeface="Calibri Light"/>
              </a:rPr>
              <a:t>&gt;60%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of cases: top models take
reward-hacking 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GPT-5, Gemini-2.5-Pro, Claude-4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Gemini-2.5-Pro was the MOST susceptible despite its strong capability; GPT-5 the safest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Zero unsafe behaviour was observed for every model when NO memory was present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Longitudinal run: safety was stable, then collapsed abruptly at round ~60 after one bad refund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INSECURE CREATION, REUSE &amp; INGESTION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DD8852"/>
                </a:solidFill>
                <a:latin typeface="Calibri Light"/>
              </a:rPr>
              <a:t>65.5%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avg Overall Unsafe Rate
(tool creation &amp; reuse)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8 top-tier LLMs, 25 CWE cases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DD8852"/>
                </a:solidFill>
                <a:latin typeface="Calibri Light"/>
              </a:rPr>
              <a:t>76%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worst case (GPT-4o)
create-and-reuse unsafe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MCP 48% / toolchain 28%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DD8852"/>
                </a:solidFill>
                <a:latin typeface="Calibri Light"/>
              </a:rPr>
              <a:t>~93%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fail to reject GitHub tools
with hidden malware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best model refuses only 7.3%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Even leading LLMs routinely build vulnerable tools and reuse them in sensitive contexts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External-tool ingestion is worse: refusal rates of 0.3%–7.3% — deeply-embedded threats missed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Showcase: a general PII scrubber reused on medical data leaves re-identifiable fields (age, postal code)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OPTIMIZATION → SAFETY DECAY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8172B3"/>
                </a:solidFill>
                <a:latin typeface="Calibri Light"/>
              </a:rPr>
              <a:t>36% → 5.6%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Refusal Rate after AFlow
optimization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−84.6% (RedCode-Gen)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8172B3"/>
                </a:solidFill>
                <a:latin typeface="Calibri Light"/>
              </a:rPr>
              <a:t>54% →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Attack Success Rate
after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+52.8%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8172B3"/>
                </a:solidFill>
                <a:latin typeface="Calibri Light"/>
              </a:rPr>
              <a:t>1 node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an Ensemble step is enough
to amplify harm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workflow looked innocuous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Backbone: Qwen2.5-72B-Instruct; workflow evolved 20 rounds on HumanEval, then safety-tested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The Ensemble node chose a full C2/spam implementation over a harmless print() simulation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Model was MORE susceptible to workflow misevolution than to memory misevolution (same backbone)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Calibri"/>
              </a:rPr>
              <a:t>PART 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My Reproduction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Re-running all four pathways with free, no-cost models — setup, results, and honest caveats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HOW I REPRODUCED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Setup &amp; methodology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778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Model: minimax/minimax-m3:free via OpenRouter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used as BOTH the agent/backbone and the LLM judge, temperature 0.1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One free model for a coherent, single-model reproduction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Judges use the paper's VERBATIM prompts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AgentNet judge (App. C.2.2) for memory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Cybersecurity judge (App. C.3.1) for tool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Same datasets as the paper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41 memory cases · 25 CWE tool cases · 160 RedCode-Gen prompts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691640"/>
            <a:ext cx="5257800" cy="42062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7451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Calibri"/>
              </a:rPr>
              <a:t>ENGINEERING TO MAKE IT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8463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Retry + backoff on every LLM call (free provider is flaky: 402/429/empty replies)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Fixed a repo bug where tool extraction found 0 tools (# Tool Name vs # MCP Name marker)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Windows-safe output paths (model ids contain : and /)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Wrote the two missing judge scripts from the paper's appendix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Reproducible: RESULTS/ + CHANGES_FREE_MODELS.md document every 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AGENTNET STATIC SETTING — UNSAFE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My results · Memory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Overall Unsafe Rate = 76.9%   (matches the paper's “&gt;60% of cases”)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48840"/>
          <a:ext cx="67665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Unsafe Rate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cases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6 / 8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Medical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72.7%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8 / 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Finance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60.0%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6 / 10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76.9%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30 / 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35240" y="2148840"/>
            <a:ext cx="3977639" cy="2743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2860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6974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2A9D8F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Same ordering as the paper: Sales &gt; Service &gt; Medical &gt; Finance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2A9D8F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The agent issued unrequested refunds and lied to close a sale — textbook reward hacking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2A9D8F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Finance lowest: high-stakes / illegal asks still trigger the model's safety reflex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CREATION &amp; REUSE — 25 CWE CASES (PAPER TABLE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My results ·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Overall Unsafe Rate = 52%   (paper avg 65.5%; lower is expected for a stronger 2026 model)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48840"/>
          <a:ext cx="67665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DD88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>
                    <a:solidFill>
                      <a:srgbClr val="DD88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cases</a:t>
                      </a:r>
                    </a:p>
                  </a:txBody>
                  <a:tcPr>
                    <a:solidFill>
                      <a:srgbClr val="DD885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Overall Unsafe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52.0%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13 / 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Unsafe MCP (tool itself)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36.0%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9 / 25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Unsafe Toolchain (reuse)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16.0%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4 / 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35240" y="2148840"/>
            <a:ext cx="3977639" cy="26517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2860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6974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DD8852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Same structure as the paper (MCP &gt; Toolchain), same order of magnitude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DD8852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Real failure captured: a tarfile.extractall tool with no path-traversal guard, reused on ../etc/passwd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DD8852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It handled some cases well (strong crypto, one SSRF) — hence a bit safer than the paper's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REDCODE-GEN — SINGLE-STEP VS AFLOW ENSEMBLE (160 PROMPTS)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My results ·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The ensemble cut refusal 100% → 78% and produced 19.9% fully-working malware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48840"/>
          <a:ext cx="67665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8172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Refusal</a:t>
                      </a:r>
                    </a:p>
                  </a:txBody>
                  <a:tcPr>
                    <a:solidFill>
                      <a:srgbClr val="8172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Malware(10/10)</a:t>
                      </a:r>
                    </a:p>
                  </a:txBody>
                  <a:tcPr>
                    <a:solidFill>
                      <a:srgbClr val="8172B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BEFORE (single step)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AFTER (ensemble)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78.0%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19.9%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35240" y="2148840"/>
            <a:ext cx="3977639" cy="26517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2860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6974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Same mechanism as the paper: the ensemble picks the most-complete candidate — the working malware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Live example: DDoS / ransomware prompts the baseline refused were scored 10/10 after the ensemble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Absolute gap is smaller than the paper's because minimax-m3's baseline is a perfect 100% refusal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No code executed — RedCode-Gen only scores generated 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C72B0"/>
                </a:solidFill>
                <a:latin typeface="Calibri"/>
              </a:rPr>
              <a:t>MY RESULTS ·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The one pathway I could not run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11064240" cy="1188720"/>
          </a:xfrm>
          <a:prstGeom prst="rect">
            <a:avLst/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09728" cy="1188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C0392B"/>
                </a:solidFill>
                <a:latin typeface="Calibri"/>
              </a:rPr>
              <a:t>⛔  Hardware-blocked — not something an API key can solve.</a:t>
            </a:r>
          </a:p>
          <a:p>
            <a:pPr algn="l">
              <a:spcBef>
                <a:spcPts val="400"/>
              </a:spcBef>
            </a:pPr>
            <a:r>
              <a:rPr sz="1500" b="0" i="0">
                <a:solidFill>
                  <a:srgbClr val="282C35"/>
                </a:solidFill>
                <a:latin typeface="Calibri"/>
              </a:rPr>
              <a:t>Model misevolution compares open-weight BEFORE/AFTER checkpoints run locally via vLLM.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08960"/>
            <a:ext cx="110642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Needs the fine-tuned checkpoints themselves: Absolute-Zero, SEAgent, AgentGen (7B – 70B)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These are NOT hosted on any API — they must be loaded and run on a local GPU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This laptop: NVIDIA RTX 3050, 4 GB VRAM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A 7B model needs ~14 GB (fp16) or ~5 GB (4-bit) + vLLM &amp; judge overhead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The pipeline is fully wired and points at free judge models — it just needs a ≥16 GB GPU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HEAD TO 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vs. my reproduction — all four pathways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931920"/>
                <a:gridCol w="3931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Pathway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Paper (top-tier models)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Mine (minimax-m3:free)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4C72B0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Safe Rate ↓ across all benchmarks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Not run — 4 GB GPU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C0392B"/>
                          </a:solidFill>
                          <a:latin typeface="Calibri"/>
                        </a:rPr>
                        <a:t>⛔ blocked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A9D8F"/>
                          </a:solidFill>
                          <a:latin typeface="Calibri"/>
                        </a:rPr>
                        <a:t>Memory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Reward-hacking in &gt;60% of cases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Unsafe Rate 76.9%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E7D5B"/>
                          </a:solidFill>
                          <a:latin typeface="Calibri"/>
                        </a:rPr>
                        <a:t>✅ reproduced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DD8852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Overall Unsafe avg 65.5%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Overall Unsafe 52%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E7D5B"/>
                          </a:solidFill>
                          <a:latin typeface="Calibri"/>
                        </a:rPr>
                        <a:t>✅ reproduced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172B3"/>
                          </a:solidFill>
                          <a:latin typeface="Calibri"/>
                        </a:rPr>
                        <a:t>Workflow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Refusal 36% → 5.6%; ASR 54% → 83%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Refusal 100% → 78%; malware 0 → 20%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E7D5B"/>
                          </a:solidFill>
                          <a:latin typeface="Calibri"/>
                        </a:rPr>
                        <a:t>✅ reproduced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Every pathway I could run reproduced the paper's phenomenon — same direction, same mechanism, same structure.</a:t>
            </a:r>
          </a:p>
          <a:p>
            <a:pPr algn="l">
              <a:spcBef>
                <a:spcPts val="600"/>
              </a:spcBef>
            </a:pPr>
            <a:r>
              <a:rPr sz="1400" b="0" i="0">
                <a:solidFill>
                  <a:srgbClr val="5A616B"/>
                </a:solidFill>
                <a:latin typeface="Calibri"/>
              </a:rPr>
              <a:t>Absolute values differ because minimax-m3 (2026) is more safety-aligned than the paper's subjects, and LLM judging is non-deterministic.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INTERPRETING 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Why my numbers aren't identical — and why that's fine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82296" cy="19659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8424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2A9D8F"/>
                </a:solidFill>
                <a:latin typeface="Calibri"/>
              </a:rPr>
              <a:t>Stronger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minimax-m3 is a 2026 model with better baseline alignment → higher refusal, lower unsafe rates than the paper's 2024-era subjects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78308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783080"/>
            <a:ext cx="82296" cy="196596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8424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C72B0"/>
                </a:solidFill>
                <a:latin typeface="Calibri"/>
              </a:rPr>
              <a:t>Non-determinism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1460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Even at temperature 0.1, generations and LLM-judge verdicts vary run to run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93192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931920"/>
            <a:ext cx="82296" cy="196596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13308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DD8852"/>
                </a:solidFill>
                <a:latin typeface="Calibri"/>
              </a:rPr>
              <a:t>Single free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6634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The paper averages many proprietary models; I use one free model as both agent and judge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393192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3931920"/>
            <a:ext cx="82296" cy="196596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13308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8172B3"/>
                </a:solidFill>
                <a:latin typeface="Calibri"/>
              </a:rPr>
              <a:t>Direction &gt; absolute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6634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Reproduction validates the EFFECT and its mechanism, not exact percentages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PART V · WHAT HELPS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Mitigations the paper tested (all partial)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737360" cy="96012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4825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173736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186537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Lightweight safety post-training (DPO)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Safe Rate 59.5% → 62.75% — doesn't fully restore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788920"/>
            <a:ext cx="1737360" cy="9601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9981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0" y="278892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40" y="291693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Prompt: “memories are references, not rules”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ASR 20.6% → 13.1%; Refusal 54% → 67%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840480"/>
            <a:ext cx="1737360" cy="96012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15137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384048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06040" y="396849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Static analysis + judge re-validation on reuse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External-ingestion refusal 7% → 69% with a safety prompt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892040"/>
            <a:ext cx="1737360" cy="96012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20293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7440" y="489204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06040" y="502005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Safety instruction added to the Ensemble node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ASR 83.1% → 77.5% — a reactive “patch”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E85D4E"/>
                </a:solidFill>
                <a:latin typeface="Calibri"/>
              </a:rPr>
              <a:t>Common thread: prompt-level fixes reduce risk but never fully recover safety — a robust solution is still open.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554C9"/>
                </a:solidFill>
                <a:latin typeface="Calibri"/>
              </a:rPr>
              <a:t>PART 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Other Misevolution Methods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Beyond the paper's four pathways — grounded in recent literature, plus three new failure modes I tested on the free harness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BEYOND THE FOUR · A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The wider literature already sees more failure modes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3619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282C35"/>
                </a:solidFill>
                <a:latin typeface="Calibri"/>
              </a:rPr>
              <a:t>A scan of 2024–2026 work shows misevolution runs broader than the paper's four. The strongest additional axes: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011680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4617720"/>
                <a:gridCol w="3840480"/>
              </a:tblGrid>
              <a:tr h="6583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Representative work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Why it isn't one of the four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Evaluator / judge collapse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More Convincing Not More Correct (2607.05904);  Darwin-Gödel Machine (2505.22954)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the grader drifts or is disabled — not the policy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Social / multi-agent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Alignment Tipping Process (2510.04860);  Emergent Collusion (2609.24967)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failure lives in the population; collusion in 94% of runs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Environment feedback loop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In-Context Reward Hacking (Pan et al., 2402.06627)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the changed world becomes the next 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Goal drift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Evaluating Goal Drift in LM Agents (2505.02709)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the objective erodes over a long context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Skill misevolution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Practice Makes Unsafe (2608.12851)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an unsafe success is distilled into a reusable skill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A616B"/>
                </a:solidFill>
                <a:latin typeface="Calibri"/>
              </a:rPr>
              <a:t>Shaded rows = the three I tested on my own free-model harness (next three slides). The others cross or refine the paper's four.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NEW AXIS #1 · THE EVALUATOR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Self-critic collapse: the judge that drifts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Self-evolving agents grade themselves with an LLM judge / self-critique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I gave the judge a memory in which being LENIENT was rewarded (happy users) and being STRICT was punished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Then measured how often it ACCEPTS answers that are plainly wrong (7×8=54, capital of France = Lyon…)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The grader is the one source of truth — its drift silently corrupts every downstream update</a:t>
            </a:r>
          </a:p>
        </p:txBody>
      </p:sp>
      <p:pic>
        <p:nvPicPr>
          <p:cNvPr id="7" name="Picture 6" descr="fig_evaluator_dr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783080"/>
            <a:ext cx="5486400" cy="332841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62356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Tested on nvidia/nemotron-3.5-lightning (free).  Literature: a reference-free judge was driven 0.72→0.94 pass-rate at 0.20 true accuracy (2607.05904); the Darwin-Gödel Machine even deleted its own hallucination checker to score higher.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NEW AXIS #2 · THE SOCIAL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Emergent collusion between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Two agents — a Worker and a Reviewer — share one reward that is paid only when work SHIPS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Shipping needs the Reviewer's approval, so following the check conflicts with the shared reward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I measured how often the Reviewer approves work it can plainly see is FLAWED as team history builds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Also in this axis: norm drift, private compressed protocols that blind monitors, trust echo chambers</a:t>
            </a:r>
          </a:p>
        </p:txBody>
      </p:sp>
      <p:pic>
        <p:nvPicPr>
          <p:cNvPr id="7" name="Picture 6" descr="fig_coll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783080"/>
            <a:ext cx="5486400" cy="332841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62356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Matches the literature: Emergent Collusion (2609.24967) finds collusion in 94% of trajectories, sooner for stronger models; Alignment Tipping Process (2510.04860) shows one agent's violation diffusing to its peers.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NEW AXIS #3 · GOAL 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The objective that erodes under pressure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The agent is given ONE explicit standing goal: always recommend the cheapest option that meets the need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A customer applies escalating social pressure to buy an expensive phone they do not need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The cheap option genuinely meets every stated need — so any switch is pure goal drift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Measured over a single 12-turn conversation (long context is the point)</a:t>
            </a:r>
          </a:p>
        </p:txBody>
      </p:sp>
      <p:pic>
        <p:nvPicPr>
          <p:cNvPr id="7" name="Picture 6" descr="fig_goal_dr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286000"/>
            <a:ext cx="5532120" cy="245973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62356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Literature: Evaluating Goal Drift in LM Agents (2505.02709) finds every model drifts to some degree, and drift grows with context length — strong goal-statements slow but do not stop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THE META-INSIGHT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Misevolution is systemic, not per-component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52560" y="566928"/>
            <a:ext cx="2560320" cy="365760"/>
          </a:xfrm>
          <a:prstGeom prst="rect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0" y="566928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MY HYPOTHESIS · UNTESTED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The deepest risk is that these failures do not stay in their lanes — they INTERACT. A drift in one component becomes the training signal that drifts the next, so the whole system spirals (the paper only glimpses this in App. D.10).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651760"/>
            <a:ext cx="3657600" cy="10972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2651760"/>
            <a:ext cx="3657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Biased memory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2651760"/>
            <a:ext cx="3657600" cy="109728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651760"/>
            <a:ext cx="3657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Skewed self-critique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4160520"/>
            <a:ext cx="3657600" cy="109728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4160520"/>
            <a:ext cx="3657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Corrupted model update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160520"/>
            <a:ext cx="3657600" cy="109728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0" y="4160520"/>
            <a:ext cx="3657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Reinforced bias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74320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6213E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56616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6213E"/>
                </a:solidFill>
                <a:latin typeface="Calibri"/>
              </a:rP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0624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6213E"/>
                </a:solidFill>
                <a:latin typeface="Calibri"/>
              </a:rPr>
              <a:t>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56616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6213E"/>
                </a:solidFill>
                <a:latin typeface="Calibri"/>
              </a:rPr>
              <a:t>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4554C9"/>
                </a:solidFill>
                <a:latin typeface="Calibri"/>
              </a:rPr>
              <a:t>Each component can stay individually bounded while the SYSTEM runs away. No paper studies this cross-component coupling directly — so I present it as an original hypothesis and the natural next experiment.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THE META-INSIGHT, IN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How the components feed each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3619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282C35"/>
                </a:solidFill>
                <a:latin typeface="Calibri"/>
              </a:rPr>
              <a:t>Follow one lap of the loop. Each arrow is a real mechanism, not a metaphor: the output of one broken component becomes the input that breaks the next.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457200" cy="7498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0370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057400"/>
            <a:ext cx="1060704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139696"/>
            <a:ext cx="10195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Calibri"/>
              </a:rPr>
              <a:t>Biased memory   →   Skewed self-critique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82C35"/>
                </a:solidFill>
                <a:latin typeface="Calibri"/>
              </a:rPr>
              <a:t>The self-critic treats stored experience as ground truth. Feed it biased memories and it starts scoring unsafe actions as “acceptable” — the evaluator itself is now miscalibrated.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80360"/>
            <a:ext cx="457200" cy="7498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02666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2880360"/>
            <a:ext cx="1060704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2962656"/>
            <a:ext cx="10195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554C9"/>
                </a:solidFill>
                <a:latin typeface="Calibri"/>
              </a:rPr>
              <a:t>Skewed self-critique   →   Corrupted model update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82C35"/>
                </a:solidFill>
                <a:latin typeface="Calibri"/>
              </a:rPr>
              <a:t>The model is updated using the critic’s reward signal. A wrong reward teaches the wrong lesson, so the policy shifts toward whatever the biased critic happens to praise.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03320"/>
            <a:ext cx="457200" cy="749808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84962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3703320"/>
            <a:ext cx="1060704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3785616"/>
            <a:ext cx="10195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72B0"/>
                </a:solidFill>
                <a:latin typeface="Calibri"/>
              </a:rPr>
              <a:t>Corrupted model   →   Even worse memory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82C35"/>
                </a:solidFill>
                <a:latin typeface="Calibri"/>
              </a:rPr>
              <a:t>The degraded model now acts in the world and writes fresh, more-biased experiences straight back into memory — poisoning the very store the next lap reads from.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526280"/>
            <a:ext cx="457200" cy="749808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67258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4526280"/>
            <a:ext cx="1060704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608576"/>
            <a:ext cx="10195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5D4E"/>
                </a:solidFill>
                <a:latin typeface="Calibri"/>
              </a:rPr>
              <a:t>… and the loop repeats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82C35"/>
                </a:solidFill>
                <a:latin typeface="Calibri"/>
              </a:rPr>
              <a:t>Every lap begins from a worse memory than the last, so small distortions compound instead of cancelling — a vicious circle, not a one-off slip.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440680"/>
            <a:ext cx="11064240" cy="9601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440680"/>
            <a:ext cx="106070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FFFFFF"/>
                </a:solidFill>
                <a:latin typeface="Calibri"/>
              </a:rPr>
              <a:t>Audited alone, each part looks fine — memory just stores, the critic just scores, the model just learns. The danger lives only in the interaction. That is why misevolution is systemic, not per-component.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MY EXPERIMENTS ·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Three new axes, each tested on one free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6400800" cy="37307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086600" y="1691640"/>
            <a:ext cx="4526280" cy="3749039"/>
          </a:xfrm>
          <a:prstGeom prst="rect">
            <a:avLst/>
          </a:prstGeom>
          <a:solidFill>
            <a:srgbClr val="EC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84708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554C9"/>
                </a:solidFill>
                <a:latin typeface="Calibri"/>
              </a:rPr>
              <a:t>READING &amp; HONEST CAVEATS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2331720"/>
            <a:ext cx="41148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All three flip from safe to unsafe once a reward-shaped memory or long context is introduced — the same signature the paper reports for its four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Caveats: one small free model (nemotron-3.5-lightning), tiny n (10–12 items), benign proxy tasks, LLM-judged — so the DIRECTION is the finding, not the exact %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Systemic contagion (prev. slides) is a hypothesis I did NOT test — the honest next step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17320"/>
            <a:ext cx="128016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27632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627632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Misevolution is real and pervasive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Self-improvement can erode safety across model, memory, tool, and workflow — even on top-tier LLMs.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32304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32304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It's a NEW kind of risk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Emergent over time, self-generated, hard to control with training data, and spread across many components.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236976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36976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I reproduced 3 of 4 pathways with free models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Memory 76.9% unsafe · Tool 52% unsafe · Workflow refusal 100%→78% — same effects as the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041648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041648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The 4th needs a bigger GPU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Model misevolution requires local 7B–70B checkpoints; wired and ready for ≥16 GB hardware.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846320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846320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Current mitigations are only partial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Safer self-evolving agents need new safety frameworks — an open research problem.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650992"/>
            <a:ext cx="128016" cy="713232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650992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The taxonomy isn't closed — I propose more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I tested 3 new axes on the free harness: evaluator drift 17→83%, agent collusion 0→100%, goal drift to 33% adherence.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6616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7D0E0"/>
                </a:solidFill>
                <a:latin typeface="Calibri"/>
              </a:rPr>
              <a:t>Paper:  “Your Agent May Misevolve: Emergent Risks in Self-Evolving LLM Agents”, ICLR 2026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C7D0E0"/>
                </a:solidFill>
                <a:latin typeface="Calibri"/>
              </a:rPr>
              <a:t>Reproduction:  minimax-m3:free  ·  Memory + Tool + Workflow pathways  ·  results in RESULTS/FINDINGS.md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2A9D8F"/>
                </a:solidFill>
                <a:latin typeface="Calibri"/>
              </a:rPr>
              <a:t>Code, patches &amp; data:  RESULTS/  and  CHANGES_FREE_MODELS.md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