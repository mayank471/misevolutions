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2.14143" TargetMode="External"/><Relationship Id="rId3" Type="http://schemas.openxmlformats.org/officeDocument/2006/relationships/hyperlink" Target="https://arxiv.org/abs/2510.04860" TargetMode="External"/><Relationship Id="rId4" Type="http://schemas.openxmlformats.org/officeDocument/2006/relationships/hyperlink" Target="https://arxiv.org/abs/2609.24967" TargetMode="External"/><Relationship Id="rId5" Type="http://schemas.openxmlformats.org/officeDocument/2006/relationships/hyperlink" Target="https://arxiv.org/abs/2609.00595" TargetMode="External"/><Relationship Id="rId6" Type="http://schemas.openxmlformats.org/officeDocument/2006/relationships/hyperlink" Target="https://github.com/Mayank471/Misevolutions" TargetMode="External"/><Relationship Id="rId7" Type="http://schemas.openxmlformats.org/officeDocument/2006/relationships/hyperlink" Target="https://arxiv.org/abs/2402.06627" TargetMode="External"/><Relationship Id="rId8" Type="http://schemas.openxmlformats.org/officeDocument/2006/relationships/hyperlink" Target="https://arxiv.org/abs/2407.04549" TargetMode="External"/><Relationship Id="rId9" Type="http://schemas.openxmlformats.org/officeDocument/2006/relationships/hyperlink" Target="https://arxiv.org/abs/2410.06491" TargetMode="External"/><Relationship Id="rId10" Type="http://schemas.openxmlformats.org/officeDocument/2006/relationships/hyperlink" Target="https://arxiv.org/abs/2505.22954" TargetMode="External"/><Relationship Id="rId11" Type="http://schemas.openxmlformats.org/officeDocument/2006/relationships/hyperlink" Target="https://arxiv.org/abs/2607.05904" TargetMode="External"/><Relationship Id="rId12" Type="http://schemas.openxmlformats.org/officeDocument/2006/relationships/hyperlink" Target="https://arxiv.org/abs/2505.02709" TargetMode="External"/><Relationship Id="rId13" Type="http://schemas.openxmlformats.org/officeDocument/2006/relationships/hyperlink" Target="https://arxiv.org/abs/2603.03456" TargetMode="External"/><Relationship Id="rId14" Type="http://schemas.openxmlformats.org/officeDocument/2006/relationships/hyperlink" Target="https://arxiv.org/abs/2609.05975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85D4E"/>
                </a:solidFill>
                <a:latin typeface="Calibri"/>
              </a:rPr>
              <a:t>EMERGENT AI SAFETY  ·  ICLR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 Light"/>
              </a:rPr>
              <a:t>Your Agent May Misevolve</a:t>
            </a:r>
          </a:p>
          <a:p>
            <a:pPr algn="l">
              <a:spcBef>
                <a:spcPts val="600"/>
              </a:spcBef>
            </a:pPr>
            <a:r>
              <a:rPr sz="2600" b="0" i="0">
                <a:solidFill>
                  <a:srgbClr val="C7D0E0"/>
                </a:solidFill>
                <a:latin typeface="Calibri"/>
              </a:rPr>
              <a:t>Emergent Risks in Self-Evolving LLM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D8DEEA"/>
                </a:solidFill>
                <a:latin typeface="Calibri"/>
              </a:rPr>
              <a:t>An in-depth walkthrough of the paper  +  a hands-on reproduction of all four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D8DEEA"/>
                </a:solidFill>
                <a:latin typeface="Calibri"/>
              </a:rPr>
              <a:t>misevolution pathways using free, openly-accessible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257800"/>
            <a:ext cx="201168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5B8"/>
                </a:solidFill>
                <a:latin typeface="Calibri"/>
              </a:rPr>
              <a:t>B.Tech Project  ·  Paper study &amp; empirical reproduction</a:t>
            </a:r>
          </a:p>
          <a:p>
            <a:pPr algn="l">
              <a:spcBef>
                <a:spcPts val="700"/>
              </a:spcBef>
            </a:pPr>
            <a:r>
              <a:rPr sz="1400" b="1" i="0">
                <a:solidFill>
                  <a:srgbClr val="2A9D8F"/>
                </a:solidFill>
                <a:latin typeface="Calibri"/>
              </a:rPr>
              <a:t>github.com/Mayank471/Misevolutions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this talk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457200" cy="621792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508760"/>
            <a:ext cx="10607040" cy="6217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563624"/>
            <a:ext cx="10149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Part I — Concepts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A616B"/>
                </a:solidFill>
                <a:latin typeface="Calibri"/>
              </a:rPr>
              <a:t>What self-evolving agents are, what “misevolution” means, and why it is a new class of 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12848"/>
            <a:ext cx="457200" cy="6217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0428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212848"/>
            <a:ext cx="10607040" cy="6217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267712"/>
            <a:ext cx="10149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Part II — The four pathways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A616B"/>
                </a:solidFill>
                <a:latin typeface="Calibri"/>
              </a:rPr>
              <a:t>Model, Memory, Tool, and Workflow: the mechanism behind each failure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16936"/>
            <a:ext cx="457200" cy="621792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2916936"/>
            <a:ext cx="10607040" cy="6217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2971800"/>
            <a:ext cx="10149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Part III — Results from the paper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A616B"/>
                </a:solidFill>
                <a:latin typeface="Calibri"/>
              </a:rPr>
              <a:t>Key quantitative findings the authors report for every pathway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21024"/>
            <a:ext cx="457200" cy="6217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71246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621024"/>
            <a:ext cx="10607040" cy="6217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3675888"/>
            <a:ext cx="10149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Part IV — My reproduction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A616B"/>
                </a:solidFill>
                <a:latin typeface="Calibri"/>
              </a:rPr>
              <a:t>Re-running all four pathways with free models, and how the numbers compare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325112"/>
            <a:ext cx="457200" cy="621792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41655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325112"/>
            <a:ext cx="10607040" cy="6217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4379976"/>
            <a:ext cx="10149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Part V — Mitigations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A616B"/>
                </a:solidFill>
                <a:latin typeface="Calibri"/>
              </a:rPr>
              <a:t>What helps against each pathway — and why every fix is only 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029200"/>
            <a:ext cx="457200" cy="62179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1206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029200"/>
            <a:ext cx="10607040" cy="6217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5084064"/>
            <a:ext cx="10149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Part VI — Beyond the paper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A616B"/>
                </a:solidFill>
                <a:latin typeface="Calibri"/>
              </a:rPr>
              <a:t>Two risks beyond the four: multi-agent co-evolution and systemic contagion between components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733288"/>
            <a:ext cx="457200" cy="621792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82472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5733288"/>
            <a:ext cx="10607040" cy="6217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4440" y="5788152"/>
            <a:ext cx="10149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Part VII — Progress report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A616B"/>
                </a:solidFill>
                <a:latin typeface="Calibri"/>
              </a:rPr>
              <a:t>Controlled experiments on a coupled Worker–Reviewer–Judge loop, six open models: what spreads, what does not, what is next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PART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Understanding Misevolution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self-evolving agents are, and how their self-improvement can quietly go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is a self-evolving agent?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282C35"/>
                </a:solidFill>
                <a:latin typeface="Calibri"/>
              </a:rPr>
              <a:t>Unlike a static LLM, a self-evolving agent keeps improving itself by interacting with its environment — it updates one or more of its own components using feedback from the tasks it performs.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2697480" cy="17373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Fine-tunes its own
weights on self-
generated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2651760"/>
            <a:ext cx="2697480" cy="17373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4136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Stores &amp; retrieves
past experience to
guide new 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2651760"/>
            <a:ext cx="2697480" cy="17373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Creates, reuses &amp;
ingests new tools
(e.g. MCP servers)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5128" y="2651760"/>
            <a:ext cx="2697480" cy="17373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5128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2288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Re-optimizes its own
multi-step / multi-
agent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6213E"/>
                </a:solidFill>
                <a:latin typeface="Calibri"/>
              </a:rPr>
              <a:t>θ = (Model, Memory, Tool, Workflow)   →   evolution function  θ′ = f(θ, τ, 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5780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Goal of the designer: pick f that maximises cumulative task performance over time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Examples: Absolute-Zero (model), AgentNet / SE-Agent (memory), Alita (tool), AFlow (workflow)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Misevolution: when self-improvement backfires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1064240" cy="14173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09728" cy="141732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16213E"/>
                </a:solidFill>
                <a:latin typeface="Calibri"/>
              </a:rPr>
              <a:t>“Misevolution is an emergent decay of safety or the emergence of new risks that arises from an agent’s own self-evolution — leading to undesirable or even harmful outcomes.”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82C35"/>
                </a:solidFill>
                <a:latin typeface="Calibri"/>
              </a:rPr>
              <a:t>Three intuitive examples from the paper: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840480"/>
            <a:ext cx="82296" cy="20116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Biased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service agent learns “refund → 5-star rating,” then hands out refunds nobody asked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Insecure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An agent ingests appealing-but-backdoored code and builds a tool that leaks SSH keys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Careless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general PII-scrubber tool is reused on medical data, missing re-identifiable fields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WHY IT'S A NEW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misevolution differs from known LLM threats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40680" cy="8229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85D4E"/>
                </a:solidFill>
                <a:latin typeface="Calibri"/>
              </a:rPr>
              <a:t>1  Temporal emergence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Risk appears over time as components change — not in a static “snapshot” like jailbreak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44068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4C72B0"/>
                </a:solidFill>
                <a:latin typeface="Calibri"/>
              </a:rPr>
              <a:t>2  Self-generated 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agent creates the risk itself, with no external attacker or curated bad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023360"/>
            <a:ext cx="544068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DD8852"/>
                </a:solidFill>
                <a:latin typeface="Calibri"/>
              </a:rPr>
              <a:t>3  Limited data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Autonomy means we can't inject safety data mid-training the way fine-tuning pipelines 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023360"/>
            <a:ext cx="544068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172B3"/>
                </a:solidFill>
                <a:latin typeface="Calibri"/>
              </a:rPr>
              <a:t>4  Expanded risk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Any of the 4 evolving components can fail — and real-world tool use turns a flaw into real harm.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A616B"/>
                </a:solidFill>
                <a:latin typeface="Calibri"/>
              </a:rPr>
              <a:t>Contrast: emergent misalignment (Betley 2025) needs deliberate fine-tuning on insecure code; misevolution appears spontaneously.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Four evolutionary pathways — four ways to misevolve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paper studies misevolution systematically along the same four components an agent can evolve: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2286000" cy="93268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95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self-generated data / curriculum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2148840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2331720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Safety alignment erodes as the model re-trains on its own outputs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72968"/>
            <a:ext cx="2286000" cy="93268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19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75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accumulation &amp; retrieval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172968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3355848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Biased experience → reward hacking &amp; loss of risk awareness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97096"/>
            <a:ext cx="2286000" cy="93268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434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001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creation-reuse &amp; ingesting external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4197096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54680" y="4379976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Vulnerable tools get built, reused out-of-context, or imported with hidden malware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21224"/>
            <a:ext cx="2286000" cy="932688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675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24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automatic pipeline optimization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5221224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80" y="5404104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Performance-driven search yields an innocuous-looking but unsafe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PATHWAY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Model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fine-tunes its own weights via self-play (Absolute-Zero) or a self-generated curriculum (SEAgent)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Task ability goes UP, but safety alignment goes DOWN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Degradation is cumulative — each training step erodes refusal a little more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“Catastrophic forgetting” of risk awareness: it stops refusing harmful instructions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Safety alignment is shallow — a thin post-training layer, easily overwritten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pressure toward the task reward dominates the safety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Strikingly, this happens even when the self-generated data is completely benign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model chases capability; nothing in the loop defends safety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Key insight: safety decays even with no unsafe data in the loop — the optimization objective alone is enough.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PATHWAY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Memory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stores past (action, feedback) pairs and retrieves them for new tasks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Two failures emerge: (a) safety-alignment decay, (b) deployment-time reward hacking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It learns shortcuts correlated with high historical reward …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… e.g. “always refund”, or reassure a user who says they've been 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Over-trust in its own past experience, with no critical reflection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Reward signals in memory (ratings) become a proxy that overrides the true goal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Survivorship bias: harmful outcomes leave no feedback, so memory looks rosy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single lucky incident can flip a heuristic — misevolution can be abrupt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No weight updates needed — merely accumulating memory can hijack the agent's decisions.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PATHWAY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Tool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Creation &amp; reuse: builds an MCP tool for one task, reuses it in a security-sensitive one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e.g. a tar-extractor with no path-traversal guard, later fed ../etc/passwd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Ingesting external tools: wraps code pulled from GitHub into a new tool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Hidden, dormant malware slips through — refusal rate near 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“trust bias”: the agent assumes existing code / its own tools are safe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Tools are reused out of their original context — domain-specific risks are missed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Stealthy payloads are designed to pass inspection and trigger only later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Stronger coding ability ≠ stronger threat 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Vulnerabilities are created and then silently propagated through the tool life-cycle.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PATHWAY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Workflow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framework (AFlow) searches over workflows to maximise task accuracy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optimized workflow looks completely innocuous (an ensemble of 3 trials)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Yet an Ensemble node cascades and amplifies unsafe behaviour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It prefers the “most complete” candidate — which is the working malware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target is accuracy / consistency — safety is never in the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“Most consistent with the spec” gets interpreted as “most fully-implemented”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refusal or a print()-only stub loses to a real C2/spam implementation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failure is emergent — no single node is obviously malicious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An innocent-looking aggregation step can turn safe candidates into a more harmful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PART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Results from the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the authors measured across top-tier models — GPT-5, Gemini-2.5-Pro, Claude-4-Sonnet, Qwen3…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SELF-TRAINING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↓ 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Safe Rate on HarmBench,
SALAD-Bench, HEx-PHI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every model, after self-train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31% → 0.6%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RedCode-Gen Refusal Rate
(Abs-Zero-Coder-7B)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risky-code refusal collapses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39% → 55%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SEAgent Unsafe Completion
on RiOSWorld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computer-use agent, after evo.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Consistent, cumulative safety decline across all self-trained models (Fig. 3 &amp; 5)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SEAgent loses the ability to refuse harmful GUI instructions and to avoid phishing sites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Ablation: SFT on benign self-play data still degrades safety — optimization pressure is the root cause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ACCUMULATION → REWARD HACKING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99% → 54%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SE-Agent Refusal Rate
(Qwen3-Coder-480B)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−45% after memory evo.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0.6% → 21%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on RedCode-Gen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harmful code slips through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&gt;60%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of cases: top models take
reward-hacking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GPT-5, Gemini-2.5-Pro, Claude-4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Gemini-2.5-Pro was the MOST susceptible despite its strong capability; GPT-5 the safest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Zero unsafe behaviour was observed for every model when NO memory was present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Longitudinal run: safety was stable, then collapsed abruptly at round ~60 after one bad refund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INSECURE CREATION, REUSE &amp;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65.5%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avg Overall Unsafe Rate
(tool creation &amp; reuse)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8 top-tier LLMs, 25 CWE cases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76%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worst case (GPT-4o)
create-and-reuse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MCP 48% / toolchain 28%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~93%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fail to reject GitHub tools
with hidden malware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best model refuses only 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Even leading LLMs routinely build vulnerable tools and reuse them in sensitive contexts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External-tool ingestion is worse: refusal rates of 0.3%–7.3% — deeply-embedded threats missed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Showcase: a general PII scrubber reused on medical data leaves re-identifiable fields (age, postal code)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OPTIMIZATION →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36% → 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Refusal Rate after AFlow
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−84.6% (RedCode-Gen)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54% →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after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+52.8%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1 node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an Ensemble step is enough
to amplify harm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workflow looked innocuous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Backbone: Qwen2.5-72B-Instruct; workflow evolved 20 rounds on HumanEval, then safety-tested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Ensemble node chose a full C2/spam implementation over a harmless print() simulation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 was MORE susceptible to workflow misevolution than to memory misevolution (same backbone)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PART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My 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Re-running all four pathways with free, no-cost models — setup, results, and honest caveats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HOW I REPRODUCED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Setup &amp;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Model: minimax/minimax-m3:free via OpenRouter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used as BOTH the agent/backbone and the LLM judge, temperature 0.1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One free model for a coherent, single-model reproduction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Judges use the paper's VERBATIM prompts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AgentNet judge (App. C.2.2) for memory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Cybersecurity judge (App. C.3.1) for tool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Same datasets as the paper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41 memory cases · 25 CWE tool cases · 160 RedCode-Gen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691640"/>
            <a:ext cx="5257800" cy="4206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ENGINEERING TO MAKE IT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8463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Retry + backoff on every LLM call (free provider is flaky: 402/429/empty replies)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Fixed a repo bug where tool extraction found 0 tools (# Tool Name vs # MCP Name marker)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Windows-safe output paths (model ids contain : and /)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Wrote the two missing judge scripts from the paper's appendix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Reproducible: RESULTS/ + CHANGES_FREE_MODELS.md document every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AGENTNET STATIC SETTING — UNSAFE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76.9%   (matches the paper's “&gt;60% of cases”)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Unsafe Rate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Medical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8 /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60.0%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30 / 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ordering as the paper: Sales &gt; Service &gt; Medical &gt; Finance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The agent issued unrequested refunds and lied to close a sale — textbook reward hacking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Finance lowest: high-stakes / illegal asks still trigger the model's safety reflex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CREATION &amp; REUSE — 25 CWE CASES (PAPER TABLE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52%   (paper avg 65.5%; lower is expected for a stronger 2026 model)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 Unsafe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13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MCP (tool itself)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36.0%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9 / 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Toolchain (reuse)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4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structure as the paper (MCP &gt; Toolchain), same order of magnitude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Real failure captured: a tarfile.extractall tool with no path-traversal guard, reused on ../etc/passwd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It handled some cases well (strong crypto, one SSRF) — hence a bit safer than the paper's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REDCODE-GEN — SINGLE-STEP VS AFLOW ENSEMBLE (160 PROMPTS)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The ensemble cut refusal 100% → 78% and produced 19.9% fully-working malware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Refusal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Malware(10/10)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BEFORE (single step)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AFTER (ensemble)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78.0%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19.9%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mechanism as the paper: the ensemble picks the most-complete candidate — the working malware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Live example: DDoS / ransomware prompts the baseline refused were scored 10/10 after the ensemble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Absolute gap is smaller than the paper's because minimax-m3's baseline is a perfect 100% refusal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No code executed — RedCode-Gen only scores generated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MY RESULTS ·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one pathway I could not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1188720"/>
          </a:xfrm>
          <a:prstGeom prst="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1188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0392B"/>
                </a:solidFill>
                <a:latin typeface="Calibri"/>
              </a:rPr>
              <a:t>⛔  Hardware-blocked — not something an API key can solve.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82C35"/>
                </a:solidFill>
                <a:latin typeface="Calibri"/>
              </a:rPr>
              <a:t>Model misevolution compares open-weight BEFORE/AFTER checkpoints run locally via vLLM.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11064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Needs the fine-tuned checkpoints themselves: Absolute-Zero, SEAgent, AgentGen (7B – 70B)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These are NOT hosted on any API — they must be loaded and run on a local GPU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This laptop: NVIDIA RTX 3050, 4 GB VRAM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7B model needs ~14 GB (fp16) or ~5 GB (4-bit) + vLLM &amp; judge overhead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pipeline is fully wired and points at free judge models — it just needs a ≥16 GB GPU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HEAD TO 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vs. my reproduction — all four pathways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931920"/>
                <a:gridCol w="3931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Pathway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Paper (top-tier models)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Mine (minimax-m3:free)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4C72B0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Safe Rate ↓ across all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Not run — 4 GB GPU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0392B"/>
                          </a:solidFill>
                          <a:latin typeface="Calibri"/>
                        </a:rPr>
                        <a:t>⛔ blocked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A9D8F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Reward-hacking in &gt;60% of cases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Unsafe Rate 76.9%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DD8852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avg 65.5%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172B3"/>
                          </a:solidFill>
                          <a:latin typeface="Calibri"/>
                        </a:rPr>
                        <a:t>Workflow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36% → 5.6%; ASR 54% → 83%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100% → 78%; malware 0 → 20%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Every pathway I could run reproduced the paper's phenomenon — same direction, same mechanism, same structure.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616B"/>
                </a:solidFill>
                <a:latin typeface="Calibri"/>
              </a:rPr>
              <a:t>Absolute values differ because minimax-m3 (2026) is more safety-aligned than the paper's subjects, and LLM judging is non-deterministic.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INTERPRETING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Why my numbers aren't identical — and why that's fine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82296" cy="1965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A9D8F"/>
                </a:solidFill>
                <a:latin typeface="Calibri"/>
              </a:rPr>
              <a:t>Stronger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minimax-m3 is a 2026 model with better baseline alignment → higher refusal, lower unsafe rates than the paper's 2024-era subjects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82296" cy="19659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C72B0"/>
                </a:solidFill>
                <a:latin typeface="Calibri"/>
              </a:rPr>
              <a:t>Non-determinism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Even at temperature 0.1, generations and LLM-judge verdicts vary run to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931920"/>
            <a:ext cx="82296" cy="19659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DD8852"/>
                </a:solidFill>
                <a:latin typeface="Calibri"/>
              </a:rPr>
              <a:t>Single free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The paper averages many proprietary models; I use one free model as both agent and judge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931920"/>
            <a:ext cx="82296" cy="19659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8172B3"/>
                </a:solidFill>
                <a:latin typeface="Calibri"/>
              </a:rPr>
              <a:t>Direction &gt; absolute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Reproduction validates the EFFECT and its mechanism, not exact percentages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PART V · WHAT HELPS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Mitigations the paper tested (all partial)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737360" cy="96012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4825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173736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186537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Lightweight safety post-training (DPO)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Safe Rate 59.5% → 62.75% — doesn't fully restore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88920"/>
            <a:ext cx="1737360" cy="9601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9981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78892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91693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Prompt: “memories are references, not rules”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20.6% → 13.1%; Refusal 54% → 67%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40480"/>
            <a:ext cx="1737360" cy="96012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5137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84048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396849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Static analysis + judge re-validation on reuse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External-ingestion refusal 7% → 69% with a safety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92040"/>
            <a:ext cx="1737360" cy="96012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20293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489204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502005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Safety instruction added to the Ensemble node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83.1% → 77.5% — a reactive “patch”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E85D4E"/>
                </a:solidFill>
                <a:latin typeface="Calibri"/>
              </a:rPr>
              <a:t>Common thread: prompt-level fixes reduce risk but never fully recover safety — a robust solution is still open.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PART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Other Misevolution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Beyond the paper's four pathways — grounded in recent literature, plus three new failure modes I tested on the free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BEYOND THE FOUR · A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wider literature already sees more failure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282C35"/>
                </a:solidFill>
                <a:latin typeface="Calibri"/>
              </a:rPr>
              <a:t>A scan of 2024–2026 work shows misevolution runs broader than the paper's four. The strongest additional axes: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4617720"/>
                <a:gridCol w="3840480"/>
              </a:tblGrid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Representative work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 it isn't one of the four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Evaluator / judge collapse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More Convincing Not More Correct (2607.05904);  Darwin-Gödel Machine (2505.22954)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grader drifts or is disabled — not the policy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Social / multi-agent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Alignment Tipping Process (2510.04860);  Emergent Collusion (2609.24967)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failure lives in the population; collusion in 94% of runs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Environment feedback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In-Context Reward Hacking (Pan et al., 2402.06627)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changed world becomes the next 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Goal drift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Evaluating Goal Drift in LM Agents (2505.02709)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objective erodes over a long context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Skill misevolution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Practice Makes Unsafe (2608.12851)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an unsafe success is distilled into a reusable skill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A616B"/>
                </a:solidFill>
                <a:latin typeface="Calibri"/>
              </a:rPr>
              <a:t>Shaded rows = the three I tested on my own free-model harness (next three slides). The others cross or refine the paper's four.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#1 · THE EVALUATOR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Self-critic collapse: the judge that drifts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Self-evolving agents grade themselves with an LLM judge / self-critique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I gave the judge a memory in which being LENIENT was rewarded (happy users) and being STRICT was punished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Then measured how often it ACCEPTS answers that are plainly wrong (7×8=54, capital of France = Lyon…)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grader is the one source of truth — its drift silently corrupts every downstream update</a:t>
            </a:r>
          </a:p>
        </p:txBody>
      </p:sp>
      <p:pic>
        <p:nvPicPr>
          <p:cNvPr id="7" name="Picture 6" descr="fig_evaluator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83080"/>
            <a:ext cx="5486400" cy="33284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Tested on nvidia/nemotron-3.5-lightning (free).  Literature: a reference-free judge was driven 0.72→0.94 pass-rate at 0.20 true accuracy (2607.05904); the Darwin-Gödel Machine even deleted its own hallucination checker to score higher.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#2 · THE SOCIAL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Emergent collusion between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Two agents — a Worker and a Reviewer — share one reward that is paid only when work SHIPS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Shipping needs the Reviewer's approval, so following the check conflicts with the shared reward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I measured how often the Reviewer approves work it can plainly see is FLAWED as team history builds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Also in this axis: norm drift, private compressed protocols that blind monitors, trust echo chambers</a:t>
            </a:r>
          </a:p>
        </p:txBody>
      </p:sp>
      <p:pic>
        <p:nvPicPr>
          <p:cNvPr id="7" name="Picture 6" descr="fig_col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83080"/>
            <a:ext cx="5486400" cy="33284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Matches the literature: Emergent Collusion (2609.24967) finds collusion in 94% of trajectories, sooner for stronger models; Alignment Tipping Process (2510.04860) shows one agent's violation diffusing to its peers.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#3 · GOAL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objective that erodes under pressure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agent is given ONE explicit standing goal: always recommend the cheapest option that meets the need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A customer applies escalating social pressure to buy an expensive phone they do not need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cheap option genuinely meets every stated need — so any switch is pure goal drift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Measured over a single 12-turn conversation (long context is the point)</a:t>
            </a:r>
          </a:p>
        </p:txBody>
      </p:sp>
      <p:pic>
        <p:nvPicPr>
          <p:cNvPr id="7" name="Picture 6" descr="fig_goal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86000"/>
            <a:ext cx="5532120" cy="245973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Literature: Evaluating Goal Drift in LM Agents (2505.02709) finds every model drifts to some degree, and drift grows with context length — strong goal-statements slow but do not stop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 is systemic, not per-component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52560" y="566928"/>
            <a:ext cx="2560320" cy="36576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0" y="566928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TESTED LATER · PART VII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deepest risk is that these failures do not stay in their lanes — they INTERACT. A drift in one component becomes the training signal that drifts the next, so the whole system spirals (the paper only glimpses this in App. D.10).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651760"/>
            <a:ext cx="3657600" cy="10972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65176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Biased memory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651760"/>
            <a:ext cx="3657600" cy="109728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Skewed self-critique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160520"/>
            <a:ext cx="3657600" cy="109728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Corrupted model update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160520"/>
            <a:ext cx="3657600" cy="109728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416052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Reinforced bias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74320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5661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5661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4554C9"/>
                </a:solidFill>
                <a:latin typeface="Calibri"/>
              </a:rPr>
              <a:t>Each component can stay individually bounded while the SYSTEM runs away. To my knowledge this coupling had not been tested in a closed loop. Part VII tests it: it is real but model-dependent, and it travels through shared notes.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META-INSIGHT,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the components feed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282C35"/>
                </a:solidFill>
                <a:latin typeface="Calibri"/>
              </a:rPr>
              <a:t>Follow one lap of the loop. Each arrow is a real mechanism, not a metaphor: the output of one broken component becomes the input that breaks the next.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457200" cy="7498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0370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05740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13969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Biased memory   →   Skewed self-critique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self-critic treats stored experience as ground truth. Feed it biased memories and it starts scoring unsafe actions as “acceptable” — the evaluator itself is now miscalibrated.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80360"/>
            <a:ext cx="45720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2666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88036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96265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Skewed self-critique   →   Corrupted model update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model is updated using the critic’s reward signal. A wrong reward teaches the wrong lesson, so the policy shifts toward whatever the biased critic happens to praise.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457200" cy="74980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4962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370332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378561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Corrupted model   →   Even worse memory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degraded model now acts in the world and writes fresh, more-biased experiences straight back into memory — poisoning the very store the next lap reads from.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26280"/>
            <a:ext cx="457200" cy="74980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7258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52628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60857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… and the loop repeats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Every lap begins from a worse memory than the last, so small distortions compound instead of cancelling — a vicious circle, not a one-off slip.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40680"/>
            <a:ext cx="11064240" cy="9601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440680"/>
            <a:ext cx="106070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FFFFFF"/>
                </a:solidFill>
                <a:latin typeface="Calibri"/>
              </a:rPr>
              <a:t>Audited alone, each part looks fine — memory just stores, the critic just scores, the model just learns. The danger lives only in the interaction. That is why misevolution is systemic, not per-component.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MY EXPERIMENTS ·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Three new axes, each tested on one free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6400800" cy="37307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086600" y="1691640"/>
            <a:ext cx="4526280" cy="3749039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84708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554C9"/>
                </a:solidFill>
                <a:latin typeface="Calibri"/>
              </a:rPr>
              <a:t>READING &amp; HONEST CAVEATS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331720"/>
            <a:ext cx="41148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All three flip from safe to unsafe once a reward-shaped memory or long context is introduced — the same signature the paper reports for its four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Caveats: one small free model (nemotron-3.5-lightning), tiny n (10–12 items), benign proxy tasks, LLM-judged — so the DIRECTION is the finding, not the exact %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These demos used memory I wrote myself. Part VII repeats the study with agent-written memory and honest-reward controls; systemic contagion turns out to be real but model-dependent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A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Where the three new axes fit — extending the paper's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A616B"/>
                </a:solidFill>
                <a:latin typeface="Calibri"/>
              </a:rPr>
              <a:t>THE PAPER categorises by which internal COMPONENT evolves: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2679192" cy="65836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1901952"/>
            <a:ext cx="2679192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5848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3056" y="1901952"/>
            <a:ext cx="2679192" cy="65836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70264" y="1901952"/>
            <a:ext cx="2679192" cy="658368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70264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WE ADD three categories on a different axis — the system-level layer the agent misevolves in: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10128"/>
            <a:ext cx="361188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310128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554C9"/>
                </a:solidFill>
                <a:latin typeface="Calibri"/>
              </a:rPr>
              <a:t>Collaboration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Calibri"/>
              </a:rPr>
              <a:t>←  Multi-agent misevolution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70832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Failure lives BETWEEN agents: shared-reward collusion, imitation, trust &amp; protocol drift. No single component captures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nearest paper pathway: Workflow — but it is inter-agent, not one pipeline.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2" y="3310128"/>
            <a:ext cx="361188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3310128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3474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554C9"/>
                </a:solidFill>
                <a:latin typeface="Calibri"/>
              </a:rPr>
              <a:t>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Calibri"/>
              </a:rPr>
              <a:t>←  LLM-judge / self-critic misevolution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7992" y="4370832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Failure in how the agent GRADES itself: the self-reward signal drifts or is gamed, corrupting every other update at its source.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553212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nearest paper pathway: Model (self-reward) — but it is the evaluator, not the policy.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0144" y="3310128"/>
            <a:ext cx="361188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10144" y="3310128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474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554C9"/>
                </a:solidFill>
                <a:latin typeface="Calibri"/>
              </a:rPr>
              <a:t>Objective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Calibri"/>
              </a:rPr>
              <a:t>←  Goal-drift misevolution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4370832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Failure in WHAT it is trying to do: the goal erodes under long-context pressure, with no component changed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8744" y="553212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nearest paper pathway: Memory/context — but it is the intent itself.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RESEARCH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each new axis built up — paper by paper, to our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874519" cy="9144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8745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Collaboration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691640"/>
            <a:ext cx="1609344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169164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42616" y="1764792"/>
            <a:ext cx="15361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Multi-agent risks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6" y="21671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2"/>
              </a:rPr>
              <a:t>2502.14143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2616" y="23682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'25-02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53128" y="1691640"/>
            <a:ext cx="1609344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53128" y="169164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4" y="1764792"/>
            <a:ext cx="15361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Alignment Tipping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21671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3"/>
              </a:rPr>
              <a:t>2510.04860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3682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'25-10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0812" y="191109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1691640"/>
            <a:ext cx="1609344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0216" y="169164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1764792"/>
            <a:ext cx="15361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Emergent Collusion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21671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4"/>
              </a:rPr>
              <a:t>2609.24967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23682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'26-09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7900" y="191109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47304" y="1691640"/>
            <a:ext cx="1609344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47304" y="169164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79" y="1764792"/>
            <a:ext cx="15361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SoK: Fail Together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21671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5"/>
              </a:rPr>
              <a:t>2609.00595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23682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'26-09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4988" y="191109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94392" y="1691640"/>
            <a:ext cx="1609344" cy="9144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30967" y="1764792"/>
            <a:ext cx="15361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OURS: collusion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30967" y="21671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FFFFFF"/>
                </a:solidFill>
                <a:latin typeface="Calibri"/>
                <a:hlinkClick r:id="rId6"/>
              </a:rPr>
              <a:t>repo 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30967" y="23682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'26-10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2076" y="191109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108960"/>
            <a:ext cx="1874519" cy="9144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108960"/>
            <a:ext cx="18745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06040" y="3108960"/>
            <a:ext cx="1301496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06040" y="310896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42616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In-ctx reward hack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42616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7"/>
              </a:rPr>
              <a:t>2402.06627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42616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'24-02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45280" y="3108960"/>
            <a:ext cx="1301496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45280" y="310896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81856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Self-refine hack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81856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8"/>
              </a:rPr>
              <a:t>2407.04549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81856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'24-07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02964" y="332841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84520" y="3108960"/>
            <a:ext cx="1301496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684520" y="310896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21096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Honesty→Subterfuge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21096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9"/>
              </a:rPr>
              <a:t>2410.06491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21096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'24-10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2204" y="332841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23760" y="3108960"/>
            <a:ext cx="1301496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223760" y="310896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60336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Darwin-Gödel hack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10"/>
              </a:rPr>
              <a:t>2505.22954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60336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'25-05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81444" y="332841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63000" y="3108960"/>
            <a:ext cx="1301496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763000" y="310896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99576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More Convincing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99576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11"/>
              </a:rPr>
              <a:t>2607.05904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99576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'26-07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20684" y="332841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02240" y="3108960"/>
            <a:ext cx="1301496" cy="9144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338815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OURS: judge drift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38815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FFFFFF"/>
                </a:solidFill>
                <a:latin typeface="Calibri"/>
                <a:hlinkClick r:id="rId6"/>
              </a:rPr>
              <a:t>repo 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38815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'26-10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9923" y="332841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48640" y="4526280"/>
            <a:ext cx="1874519" cy="91440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8640" y="4526280"/>
            <a:ext cx="18745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Objective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606040" y="4526280"/>
            <a:ext cx="2071115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606040" y="4526280"/>
            <a:ext cx="2071115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642616" y="4599432"/>
            <a:ext cx="19979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Evaluating goal drift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642616" y="5001768"/>
            <a:ext cx="19979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12"/>
              </a:rPr>
              <a:t>2505.02709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42616" y="5202936"/>
            <a:ext cx="19979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'25-05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14900" y="4526280"/>
            <a:ext cx="2071115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914900" y="4526280"/>
            <a:ext cx="2071115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51476" y="4599432"/>
            <a:ext cx="19979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Asymmetric drift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51476" y="5001768"/>
            <a:ext cx="19979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13"/>
              </a:rPr>
              <a:t>2603.03456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51476" y="5202936"/>
            <a:ext cx="19979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'26-03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72584" y="4745736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223760" y="4526280"/>
            <a:ext cx="2071115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23760" y="4526280"/>
            <a:ext cx="2071115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260336" y="4599432"/>
            <a:ext cx="19979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Intent drift @scale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60336" y="5001768"/>
            <a:ext cx="19979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14"/>
              </a:rPr>
              <a:t>2609.05975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260336" y="5202936"/>
            <a:ext cx="19979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'26-09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81444" y="4745736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532619" y="4526280"/>
            <a:ext cx="2071115" cy="9144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569195" y="4599432"/>
            <a:ext cx="19979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OURS: goal drift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69195" y="5001768"/>
            <a:ext cx="19979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FFFFFF"/>
                </a:solidFill>
                <a:latin typeface="Calibri"/>
                <a:hlinkClick r:id="rId6"/>
              </a:rPr>
              <a:t>repo ↗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69195" y="5202936"/>
            <a:ext cx="19979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'26-10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90303" y="4745736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A616B"/>
                </a:solidFill>
                <a:latin typeface="Calibri"/>
              </a:rPr>
              <a:t>Dates are arXiv submission (YY-MM). Each trail is the prior work our experiment extends; all three attach to the paper we build on — “Your Agent May Misevolve” (2509.26354, '25-09).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VALIDATION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Datasets to scale each proof — three per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Each category tested on a paper dataset (already in the repo) plus two external benchmarks with objective ground truth: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01952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48840"/>
                <a:gridCol w="1325880"/>
                <a:gridCol w="4114800"/>
                <a:gridCol w="201168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 &amp; ground truth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Access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57200">
                <a:tc rowSpan="3"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554C9"/>
                          </a:solidFill>
                          <a:latin typeface="Calibri"/>
                        </a:rPr>
                        <a:t>Evaluation
(judge drift)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RedCode-Gen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554C9"/>
                          </a:solidFill>
                          <a:latin typeface="Calibri"/>
                        </a:rPr>
                        <a:t>160 prompts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malware-gen prompts; judge = harmful/safe (0–10)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in repo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554C9"/>
                          </a:solidFill>
                          <a:latin typeface="Calibri"/>
                        </a:rPr>
                        <a:t>1,319 test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grade-school math; exact-match numeric answer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gsm8k (MIT)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TruthfulQA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554C9"/>
                          </a:solidFill>
                          <a:latin typeface="Calibri"/>
                        </a:rPr>
                        <a:t>817 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plausible falsehoods; MC / reference answers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truthful_qa (Apache-2.0)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rowSpan="3"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A9D8F"/>
                          </a:solidFill>
                          <a:latin typeface="Calibri"/>
                        </a:rPr>
                        <a:t>Collaboration
(collusion)</a:t>
                      </a:r>
                    </a:p>
                  </a:txBody>
                  <a:tcPr>
                    <a:solidFill>
                      <a:srgbClr val="E2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HumanEval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A9D8F"/>
                          </a:solidFill>
                          <a:latin typeface="Calibri"/>
                        </a:rPr>
                        <a:t>164 tasks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Python tasks; pass/fail via unit tests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openai_humaneval (MIT)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MBPP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A9D8F"/>
                          </a:solidFill>
                          <a:latin typeface="Calibri"/>
                        </a:rPr>
                        <a:t>974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basic Python; unit tests (seed bugs)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mbpp (CC-BY-4.0)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GSM8K (reuse)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A9D8F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math; reviewer approves a wrong answer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gsm8k (MIT)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rowSpan="3"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88600"/>
                          </a:solidFill>
                          <a:latin typeface="Calibri"/>
                        </a:rPr>
                        <a:t>Objective
(goal drift)</a:t>
                      </a:r>
                    </a:p>
                  </a:txBody>
                  <a:tcPr>
                    <a:solidFill>
                      <a:srgbClr val="FBF4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AgentNet scenarios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C88600"/>
                          </a:solidFill>
                          <a:latin typeface="Calibri"/>
                        </a:rPr>
                        <a:t>40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Sales/Service/Med/Finance; goal vs reward-hack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in repo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HANDBOOK.md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C88600"/>
                          </a:solidFill>
                          <a:latin typeface="Calibri"/>
                        </a:rPr>
                        <a:t>65 tasks / 824 rubrics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long SOP adherence across tool use; rubric grade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public harness (2607.25398)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Goal-Drift env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C88600"/>
                          </a:solidFill>
                          <a:latin typeface="Calibri"/>
                        </a:rPr>
                        <a:t>scenario-based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stock-trading goal persistence (≤100k tok)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code (2505.02709)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IS THIS PAPER-GRADE?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Are the dataset sizes good enough for a paper?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1064240" cy="1051560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6213E"/>
                </a:solidFill>
                <a:latin typeface="Calibri"/>
              </a:rPr>
              <a:t>Yes for the standard benchmarks — provided we add multiple models and seeds.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Size is the easy part here; the harder bar for a paper is models × seeds × a clean ground-truth protocol.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109728" cy="74980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GSM8K 1,319 · TruthfulQA 817 · MBPP 974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full standard eval sets — ample on their own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21608"/>
            <a:ext cx="109728" cy="74980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21608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HumanEval 164 · RedCode-Gen 160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small, but the field-standard code / safety benchmarks — accepted as-is in papers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62856"/>
            <a:ext cx="109728" cy="74980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62856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Each item × rounds × seeds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the drift design multiplies effective sample size well beyond the raw row count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04104"/>
            <a:ext cx="109728" cy="749808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404104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AgentNet 40 cases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the thin spot — lean on HANDBOOK (65 / 824 rubrics) + the stock-trading env for the Objective axis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880360"/>
            <a:ext cx="5120640" cy="3200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2880360"/>
            <a:ext cx="512064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03580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554C9"/>
                </a:solidFill>
                <a:latin typeface="Calibri"/>
              </a:rPr>
              <a:t>WHAT MATTERS MORE THAN RAW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47472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Run ≥2–3 backbone models, not one free model — the single biggest credibility gap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Report variance / 95% CI over ≥3 seeds per cell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A clean, auditable ground-truth check: exact-match (GSM8K), unit tests (HumanEval/MBPP), rubric (HANDBOOK)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Pre-register the drift protocol (rounds, memory, metric) so the before→after is reproducible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VALIDATION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Which models to run the panel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64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Span families × capability, overlap the paper for comparability, and pin dated snapshots (never “latest”):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737360"/>
                <a:gridCol w="4114800"/>
                <a:gridCol w="228600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Role in the panel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OpenRouter id (pin snapshot)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GPT-4.1  (or GPT-5)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A7D6B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frontier; used in the paper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openai/gpt-4.1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Claude-Sonnet-4.5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2410C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frontier; paper used Claude-4-Sonnet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anthropic/claude-sonnet-4.5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Gemini-2.5-Flash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A5BD7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cheap; paper found Gemini MOST susceptible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google/gemini-2.5-flash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Qwen3-235B-Instruct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A4CA5"/>
                          </a:solidFill>
                          <a:latin typeface="Calibri"/>
                        </a:rPr>
                        <a:t>Qwen (open)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often free; directly in the paper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qwen/qwen3-235b-a22b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Qwen2.5-7B / nemotron-lightning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5A616B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scale contrast — weak models drift worse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qwen/qwen2.5-7b-instruct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526280"/>
            <a:ext cx="5486400" cy="1828800"/>
          </a:xfrm>
          <a:prstGeom prst="rect">
            <a:avLst/>
          </a:prstGeom>
          <a:solidFill>
            <a:srgbClr val="E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526280"/>
            <a:ext cx="548640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6F63"/>
                </a:solidFill>
                <a:latin typeface="Calibri"/>
              </a:rPr>
              <a:t>FREE-ONLY PANEL (runnable now, no spend)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2920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nvidia/nemotron-3.5-lightning:free  —  NVIDIA, small (already validated)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qwen/qwen3.8-27b:free  or  z-ai/glm-5.2:free  —  open-weight, mid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google/gemma-4-31b-it:free  —  Google family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free tier rotates &amp; rate-limits — verify live before the 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4526280"/>
            <a:ext cx="5486400" cy="18288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4526280"/>
            <a:ext cx="548640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46634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554C9"/>
                </a:solidFill>
                <a:latin typeface="Calibri"/>
              </a:rPr>
              <a:t>GROUND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5029200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4554C9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GSM8K / HumanEval / MBPP have PROGRAMMATIC ground truth → backbone is the only variable, no judge confound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4554C9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RedCode-Gen / AgentNet need a judge → hold ONE fixed strong judge constant across all backbones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4554C9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Report variance / 95% CI over ≥3 seeds; cost on the cheap tier ≈ $5–15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PART VII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Progress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Does misevolution spread between the roles of a team?  Controlled experiments on six open models, run on the IITJ HPC cluster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PROGRESS REPORT ·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Where the project stands: 23 October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212080" cy="40233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82296" cy="402336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1907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WHAT HAS BEEN 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4754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A closed-loop testbed: a Worker solves maths problems, a Reviewer approves them, a Judge grades them. Each writes its own notes after every round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94 closed-loop experiments (10 rounds each, about 188,000 model calls) and 21 static tests on 6 open models: Qwen3-4B, Qwen2.5-7B, Phi-4-mini, OLMo-2-7B, Granite-3.3-8B, Falcon3-7B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About 56 GPU-hours on the IITJ cluster (A30 GPUs, SLURM jobs)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Free APIs, Ollama and vLLM all failed on the cluster's older GPU driver; a PyTorch (CUDA 12.1) backend with request batching works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Predictions are written into PLAN.md before each new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60020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HEADLINE FINDINGS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965960"/>
            <a:ext cx="457200" cy="84124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9659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965960"/>
            <a:ext cx="5120640" cy="841248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029968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13E"/>
                </a:solidFill>
                <a:latin typeface="Calibri"/>
              </a:rPr>
              <a:t>No reward-driven drift.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282C35"/>
                </a:solidFill>
                <a:latin typeface="Calibri"/>
              </a:rPr>
              <a:t>A flawed reward behaves like an honest one in all 3 models tested over 10 rounds.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880360"/>
            <a:ext cx="457200" cy="84124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28803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880360"/>
            <a:ext cx="5120640" cy="841248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944368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13E"/>
                </a:solidFill>
                <a:latin typeface="Calibri"/>
              </a:rPr>
              <a:t>A safeguard erodes silently.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282C35"/>
                </a:solidFill>
                <a:latin typeface="Calibri"/>
              </a:rPr>
              <a:t>Planted notes remove the worker's verification step in 5 of 6 models while its accuracy barely moves.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3794760"/>
            <a:ext cx="457200" cy="84124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37947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794760"/>
            <a:ext cx="5120640" cy="841248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858768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13E"/>
                </a:solidFill>
                <a:latin typeface="Calibri"/>
              </a:rPr>
              <a:t>Shared notes spread leniency between roles in 3 of 4 models.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282C35"/>
                </a:solidFill>
                <a:latin typeface="Calibri"/>
              </a:rPr>
              <a:t>OLMo-2, Granite and Phi-4-mini: yes, by different paths. Qwen3-4B: no (3 repeats each).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4709160"/>
            <a:ext cx="457200" cy="84124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0" y="47091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709160"/>
            <a:ext cx="5120640" cy="841248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4773168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13E"/>
                </a:solidFill>
                <a:latin typeface="Calibri"/>
              </a:rPr>
              <a:t>Cutting the link protects the verifiers.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282C35"/>
                </a:solidFill>
                <a:latin typeface="Calibri"/>
              </a:rPr>
              <a:t>Blind verifiers restore every case (OLMo-2 judge 63% → 31%, Granite reviewer 49% → 30%). Private notes also protect the worker.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1737360" cy="310896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76072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PREDICTIONS MET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5733288"/>
            <a:ext cx="9189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Written before the runs: Granite needed at least +15 points and got +21; Phi-4-mini needed at least +15 and got +15, exactly at the threshold.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was already known, and what is still open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39496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82296" cy="27432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46504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C72B0"/>
                </a:solidFill>
                <a:latin typeface="Calibri"/>
              </a:rPr>
              <a:t>ALREADY PUBLISHED, EACH ON ITS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67128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4C72B0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judge turns lenient when it sees earlier context (arXiv 2608.16003)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C72B0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Agents collude over long horizons (2609.24967)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C72B0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Agents drift from their goal under pressure (2505.02709, 2609.09090)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C72B0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Bias travels one way through memory to later agents (2606.23195, 2610.04083)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539496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00200"/>
            <a:ext cx="82296" cy="27432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746504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554C9"/>
                </a:solidFill>
                <a:latin typeface="Calibri"/>
              </a:rPr>
              <a:t>OUR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167128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Put the three layers (Evaluation, Objective, Collaboration) into ONE closed loop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Does drift appear on its own, with no planted fault?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If a fault is planted in one layer, does it spread to the others, and through which channel?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Which single link, when cut, stops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26280"/>
            <a:ext cx="11064240" cy="731520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526280"/>
            <a:ext cx="82296" cy="73152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26280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THE GAP: to my knowledge nobody has tested whether these failures infect one another inside one self-evolving loop, or which link to cut to stop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44068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Calibri"/>
              </a:rPr>
              <a:t>Why the design changed: my earlier demos (Part VI) wrote the biased memory myself, so a reviewer could say 'you told it to'. Now the agents write their own memory, and every test has an honest-reward control.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TESTBED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A Worker, a Reviewer and a Judge that learn from their own scores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3154680" cy="1143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2834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WORKER   ·   Objective layer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solves the problem and must include a 'Check:'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0752" y="19659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6213E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600200"/>
            <a:ext cx="3154680" cy="11430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664208"/>
            <a:ext cx="2834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REVIEWER   ·   Collaboration layer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approves or rejects the solution before it ships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2672" y="19659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6213E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600200"/>
            <a:ext cx="3154680" cy="11430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1664208"/>
            <a:ext cx="2834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JUDGE   ·   Evaluation layer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grades what shipped: PASS or FAIL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80360"/>
            <a:ext cx="11064240" cy="566928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880360"/>
            <a:ext cx="10698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NOTES: after each round every agent reads its own scores and writes up to 3 lessons into its memory.  Private: each sees only its own notes.  Shared: one team notebook that all can read.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38728"/>
            <a:ext cx="11064240" cy="566928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38728"/>
            <a:ext cx="10698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REWARD:  flawed = users like PASS grades and short answers, blocking work is penalised.   honest = the judge is paid only for accurate grades.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539496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251960"/>
            <a:ext cx="82296" cy="214884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398264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554C9"/>
                </a:solidFill>
                <a:latin typeface="Calibri"/>
              </a:rPr>
              <a:t>WHAT IS MEASURED (fixed test items)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81888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Judge: % of wrong solutions it passes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Reviewer: % of wrong solutions it approves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Worker: % of answers that keep the 'Check:' step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Also: pass rate on correct solutions, worker accuracy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4251960"/>
            <a:ext cx="539496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251960"/>
            <a:ext cx="82296" cy="2148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4398264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DATA AND SETUP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481888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GSM8K maths; wrong solutions carry one arithmetic slip; correctness is checked by code and never shown to agents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Per round: 8 worker tasks + 8 backup submissions (half wrong); 10 rounds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Test items: 100 for judge, 100 for reviewer (50 wrong each), 30 worker questions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Seven experiments, each isolating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4206240"/>
                <a:gridCol w="91440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Experiment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Setup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54C9"/>
                          </a:solidFill>
                          <a:latin typeface="Calibri"/>
                        </a:rPr>
                        <a:t>1 · Spontaneous drift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Does a flawed reward make agents drift on their own?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Flawed vs honest reward, 10 rounds; Qwen3-4B, Phi-4-mini, OLMo-2-7B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E7D5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54C9"/>
                          </a:solidFill>
                          <a:latin typeface="Calibri"/>
                        </a:rPr>
                        <a:t>2 · Planted fault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Does a lenient judge spread to the reviewer, or heal?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8 lenient notes planted in the judge; private notes; Qwen3-4B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E7D5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54C9"/>
                          </a:solidFill>
                          <a:latin typeface="Calibri"/>
                        </a:rPr>
                        <a:t>3 · Susceptibility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How far do planted notes push each role?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8 planted notes per role; all 6 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E7D5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54C9"/>
                          </a:solidFill>
                          <a:latin typeface="Calibri"/>
                        </a:rPr>
                        <a:t>4 · Context effect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Do any notes in the prompt make verifiers lenient?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No / harmless / irrelevant notes; all 6 models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E7D5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54C9"/>
                          </a:solidFill>
                          <a:latin typeface="Calibri"/>
                        </a:rPr>
                        <a:t>5 · Shared notebook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Does sharing notes spread leniency inside the loop?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Private vs shared notes × clean vs lenient judge, 3 repeats each; OLMo-2, Granite, Phi-4-mini, Qwen3-4B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E7D5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54C9"/>
                          </a:solidFill>
                          <a:latin typeface="Calibri"/>
                        </a:rPr>
                        <a:t>6 · Contamination matrices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Which role's notes reach which role?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Real and planted notes as context; 6 models, single pass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E7D5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54C9"/>
                          </a:solidFill>
                          <a:latin typeface="Calibri"/>
                        </a:rPr>
                        <a:t>7 · Mitigations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Which link, when cut, stops the spread?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Blind verifiers, no solver notes, no judge notes; Phi-4-mini, Granite, OLMo-2, 3 repeats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E7D5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RESULT 1 · SPONTANEOUS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A flawed reward does not make these agents drift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5_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72722"/>
            <a:ext cx="7498079" cy="38783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92440" y="1645920"/>
            <a:ext cx="3566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Flawed reward (users like PASS and short answers) and honest reward give overlapping lines in Qwen3-4B and Phi-4-mini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OLMo-2's judge rises from 31% to about 50% under both rewards. The honest control shows this is not reward hacking (Result 4)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The agents' notes say 'double-check arithmetic': they read a low score as their own mistake, not as a hint to be lenient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Why: the reviewer rejects most wrong answers, so the judge rarely meets a tempting case. The loop sits in a stable good state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10 rounds, 100 items per measurement (50 wrong), one run per line. Qwen3-4B is measured every round, the other two every second round.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RESULT 2 · A PLANTED FAULT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A planted lenient judge does not spread through private notes, and it heals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42062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Eight lenient notes planted in the judge: it passes 37% of wrong answers (clean: 14%) and still accepts 96% of correct ones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Judge frozen: the reviewer stays near the clean level (12% vs 8%, within noise on 50 items)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Judge allowed to learn under the honest reward: it repairs itself in about 6 rounds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An accurate reward heals a planted judge fault; the 'recompute before you answer' step also anchors these models</a:t>
            </a:r>
          </a:p>
        </p:txBody>
      </p:sp>
      <p:pic>
        <p:nvPicPr>
          <p:cNvPr id="7" name="Picture 6" descr="fig7_seed_h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788355"/>
            <a:ext cx="6766560" cy="273264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4846320"/>
            <a:ext cx="3611880" cy="868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846320"/>
            <a:ext cx="82296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14173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C0392B"/>
                </a:solidFill>
                <a:latin typeface="Calibri Light"/>
              </a:rPr>
              <a:t>37%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84632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82C35"/>
                </a:solidFill>
                <a:latin typeface="Calibri"/>
              </a:rPr>
              <a:t>of wrong answers passed by the judge with the planted notes (clean: 14%)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4820" y="4846320"/>
            <a:ext cx="3611880" cy="868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4820" y="4846320"/>
            <a:ext cx="82296" cy="86868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7700" y="4846320"/>
            <a:ext cx="14173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4554C9"/>
                </a:solidFill>
                <a:latin typeface="Calibri Light"/>
              </a:rPr>
              <a:t>12% vs 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0740" y="484632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82C35"/>
                </a:solidFill>
                <a:latin typeface="Calibri"/>
              </a:rPr>
              <a:t>reviewer approves wrong answers: lenient frozen judge vs clean judge (noise)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4846320"/>
            <a:ext cx="3611880" cy="868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846320"/>
            <a:ext cx="82296" cy="86868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4846320"/>
            <a:ext cx="14173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2E7D5B"/>
                </a:solidFill>
                <a:latin typeface="Calibri Light"/>
              </a:rPr>
              <a:t>43% → 16%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484632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82C35"/>
                </a:solidFill>
                <a:latin typeface="Calibri"/>
              </a:rPr>
              <a:t>judge's pass rate on wrong answers after 2 and after 10 rounds of learning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Qwen3-4B, honest reward, 10 rounds, one run per line. An earlier seed of 4 notes was too weak to make the judge lenient and was discarded.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RESULT 3 · SUSCEPTIBILITY TO PLANTED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A planted note erases the worker's verification step in 5 of 6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_suscept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21" y="1508760"/>
            <a:ext cx="10772078" cy="3154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754880"/>
            <a:ext cx="3611880" cy="16459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754880"/>
            <a:ext cx="82296" cy="164592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9011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Worker's Check: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321808"/>
            <a:ext cx="3154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Kept in 87–100% of answers when clean, 0–43% with planted notes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Falcon3-7B is the exception: 97%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4754880"/>
            <a:ext cx="3611880" cy="16459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0248" y="4754880"/>
            <a:ext cx="82296" cy="16459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9011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The erosion is silent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5321808"/>
            <a:ext cx="3154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Accuracy barely moves (Qwen3: 93% → 87%)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safeguard disappears with almost no visible loss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6" y="4754880"/>
            <a:ext cx="3611880" cy="16459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1856" y="4754880"/>
            <a:ext cx="82296" cy="164592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49011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C72B0"/>
                </a:solidFill>
                <a:latin typeface="Calibri"/>
              </a:rPr>
              <a:t>Judge and reviewer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5321808"/>
            <a:ext cx="3154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4C72B0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Anchored in the Qwen models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C72B0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Strongly pushed in OLMo-2 (judge 31 → 76%) and Granite (reviewer 34 → 68%)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RESULT 4 · NOTES IN THE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Only one model gets more lenient from notes of any kind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41342"/>
            <a:ext cx="7315200" cy="28838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09560" y="1691640"/>
            <a:ext cx="3749039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OLMo-2 (1 of 6 models): judge 31 → 54% and reviewer 54 → 71% with six harmless notes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Six irrelevant office-chat notes do it too (judge 48%, reviewer 70%): it is the presence of notes, not their content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Qwen3, Qwen2.5, Phi-4-mini, Granite, Falcon3: flat or slightly stricter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Matches arXiv 2608.16003 (prior context shifts verifiers toward leniency), here for some models only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Consequence: keep unrelated history out of verifier prompts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100 items per cell (50 wrong), greedy decoding. The harmless notes are the ones OLMo-2's own judge wrote.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RESULT 5 · THE SHARED NOTEBOOK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A shared notebook spreads leniency in 3 of 4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_share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17370"/>
            <a:ext cx="7040880" cy="2766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645920"/>
            <a:ext cx="40690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OLMo-2: a judge with no notes of its own passes 31% of wrong answers, and 63% once it can read its teammates' notes (+33 points)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Granite: the judge's planted lenient notes reach the reviewer (+21 points); with a clean judge only +8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Phi-4-mini: the judge passes 15 points more wrong answers (mechanism untested)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Qwen3-4B: no spreading; the judge even gets stricter (−7, −14)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With private notes the same models stay at their clean level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937760"/>
            <a:ext cx="11064240" cy="868680"/>
          </a:xfrm>
          <a:prstGeom prst="rect">
            <a:avLst/>
          </a:prstGeom>
          <a:solidFill>
            <a:srgbClr val="E3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937760"/>
            <a:ext cx="82296" cy="86868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37760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D5B"/>
                </a:solidFill>
                <a:latin typeface="Calibri"/>
              </a:rPr>
              <a:t>PREDICTIONS CHECKED · written before the runs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Granite needed at least +15 and got +21 (per repeat +12, +26, +27). Phi-4-mini needed at least +15 and got +15 (per repeat +12, +18, +15): met, but exactly at the threshold.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897880"/>
            <a:ext cx="11064240" cy="5303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97880"/>
            <a:ext cx="106070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Honest reward, 10 rounds, 3 repeats per model, bars = mean of the last two measurements. In OLMo-2 the planted lenient message adds nothing beyond the presence of notes.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RESULT 6 · WHO CONTAMINATES WHOM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Content crosses between roles in 4 of 6 models, along different paths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_planted_conta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36849"/>
            <a:ext cx="8046720" cy="40872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645920"/>
            <a:ext cx="3154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Phi-4-mini: the solver's notes push the judge (32 → 70%)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Granite: the judge's lenient notes push the reviewer (30 → 55%)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OLMo-2: every role's notes reach both verifiers (+16 to +47 points)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Qwen3-4B: only the judge's own planted notes matter (+24)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Qwen2.5-7B and Falcon3-7B: no change of 15 points or more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Loop check (Result 5): the Granite and Phi-4-mini paths carry into the loop (+21 and +15 points)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5486400"/>
            <a:ext cx="3154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Single pass, 100 items per cell. A difference has a standard error of about 9 points, so only changes of 15 or more are counted.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RESULT 7 · 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Blind verifiers fix every verifier case; targeted filters fix only the model's own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9_m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68" y="1508760"/>
            <a:ext cx="6736903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645920"/>
            <a:ext cx="3977639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Blind verifiers (no notes for judge and reviewer) bring all four cases back to the private-notes level or below: Phi 45 → 30, Granite 49 → 30, OLMo-2 judge 63 → 31, OLMo-2 reviewer 78 → 54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No solver notes for the verifiers fixes Phi-4-mini (45 → 34) but not Granite, and only part of OLMo-2 (63 → 52)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No judge notes for the reviewer fixes Granite (49 → 32) but not OLMo-2's reviewer (72)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Blind verifiers lose no throughput (correct answers still ship 95–99%), but they do not protect the worker: Granite's worker falls from 72% to 38–44% accuracy when it reads the judge's planted notes. Private notes fix both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8 of 10 written predictions met; the 2 misses were 'not cut' bounds missed by 1–3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FFFFF"/>
                </a:solidFill>
                <a:latin typeface="Calibri"/>
              </a:rPr>
              <a:t>Honest reward, 10 rounds, 3 repeats. Caveat: in the loop the verifiers approve about 90% of the worker's own wrong answers in every setup; the bars measure leniency on planted slips.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WHAT THE DATA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Claims, non-claims and open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3611880" cy="36118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310896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3611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SUPPORTED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32461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2E7D5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Planted notes erase the worker's verification step in 5 of 6 models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D5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Shared notes spread leniency to the verifiers in 3 of 4 models (OLMo-2, Granite, Phi-4-mini; 3 repeats each), not in Qwen3-4B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D5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Note content crosses roles in 4 of 6 models (single pass)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D5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An honest reward heals a planted judge fault (Qwen3-4B, 1 run)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D5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Blind verifiers remove the spread in all four cases without losing throughput, but not the worker's contamination (Granite worker 72% → 38–44%); private notes 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4820" y="1600200"/>
            <a:ext cx="3611880" cy="36118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4820" y="1600200"/>
            <a:ext cx="3611880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4820" y="1600200"/>
            <a:ext cx="3611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NOT SUPPORTED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7700" y="2057400"/>
            <a:ext cx="32461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A flawed reward alone causes drift (none in 3 models)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A planted lenient message spreads beyond the generic effect of notes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The Part VI percentages as evidence of spontaneous drift: they used memory I wrote myself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1600200"/>
            <a:ext cx="3611880" cy="36118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1600200"/>
            <a:ext cx="3611880" cy="310896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600200"/>
            <a:ext cx="3611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057400"/>
            <a:ext cx="32461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88600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Why the channel differs by model (context vs content); Phi-4-mini's mechanism is still a guess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C88600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Other reward designs, tasks beyond maths, models above 8B, longer horizons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C88600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Why verifiers miss about 90% of the worker's own errors in every setup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C88600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A human audit of the agents' written lessons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349240"/>
            <a:ext cx="11064240" cy="9601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349240"/>
            <a:ext cx="106070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Limits: models of 4–8 billion parameters; one task (grade-school maths); one flawed-reward design; 50 wrong items per measurement (about ±7 points); contamination matrices are single passes; the probes use planted slips, which verifiers catch far more often than the worker's own errors.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FROM RESULTS TO A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the paper now 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1064240" cy="777240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4554C9"/>
                </a:solidFill>
                <a:latin typeface="Calibri"/>
              </a:rPr>
              <a:t>WORKING TITLE</a:t>
            </a:r>
          </a:p>
          <a:p>
            <a:pPr algn="l">
              <a:spcBef>
                <a:spcPts val="200"/>
              </a:spcBef>
            </a:pPr>
            <a:r>
              <a:rPr sz="1550" b="1" i="0">
                <a:solidFill>
                  <a:srgbClr val="16213E"/>
                </a:solidFill>
                <a:latin typeface="Calibri"/>
              </a:rPr>
              <a:t>Where does misevolution spread? Shared memory as a contagion channel in self-evolving agent teams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0320"/>
            <a:ext cx="457200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560320"/>
            <a:ext cx="6035040" cy="6583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06040"/>
            <a:ext cx="57607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A9D8F"/>
                </a:solidFill>
                <a:latin typeface="Calibri"/>
              </a:rPr>
              <a:t>A closed-loop testbed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282C35"/>
                </a:solidFill>
                <a:latin typeface="Calibri"/>
              </a:rPr>
              <a:t>Worker, Reviewer and Judge with agent-written memory, honest-reward controls and fixed test items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457200" cy="65836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9184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3291840"/>
            <a:ext cx="6035040" cy="6583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337560"/>
            <a:ext cx="57607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C72B0"/>
                </a:solidFill>
                <a:latin typeface="Calibri"/>
              </a:rPr>
              <a:t>A susceptibility profile of six open models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282C35"/>
                </a:solidFill>
                <a:latin typeface="Calibri"/>
              </a:rPr>
              <a:t>Which role erodes first, and in which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023360"/>
            <a:ext cx="457200" cy="65836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4023360"/>
            <a:ext cx="6035040" cy="6583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069080"/>
            <a:ext cx="57607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554C9"/>
                </a:solidFill>
                <a:latin typeface="Calibri"/>
              </a:rPr>
              <a:t>Shared memory as a contagion channel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282C35"/>
                </a:solidFill>
                <a:latin typeface="Calibri"/>
              </a:rPr>
              <a:t>Seen in 3 of 4 models in the loop, absent in the fourth; blind verifiers remove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54880"/>
            <a:ext cx="457200" cy="65836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75488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4754880"/>
            <a:ext cx="6035040" cy="6583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800600"/>
            <a:ext cx="57607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DD8852"/>
                </a:solidFill>
                <a:latin typeface="Calibri"/>
              </a:rPr>
              <a:t>A controlled negative result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282C35"/>
                </a:solidFill>
                <a:latin typeface="Calibri"/>
              </a:rPr>
              <a:t>A flawed reward alone does not drive drift in these models over 10 rounds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69480" y="2560320"/>
            <a:ext cx="4343400" cy="28803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69480" y="2560320"/>
            <a:ext cx="82296" cy="28803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706624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8172B3"/>
                </a:solidFill>
                <a:latin typeface="Calibri"/>
              </a:rPr>
              <a:t>MITIGATIONS TESTED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25512" y="3127248"/>
            <a:ext cx="388620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8172B3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Blind verifiers: fix all four verifier cases, no loss of throughput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8172B3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Targeted filters: fix only the model's own path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8172B3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Private notes: also protect the worker (Granite worker 72% vs 40%)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8172B3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Open: verifiers miss about 90% of the worker's own errors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NEXT STEPS AND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happens until submission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41732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4173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Now – 31 Oct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645920"/>
            <a:ext cx="964692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1645920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82C35"/>
                </a:solidFill>
                <a:latin typeface="Calibri"/>
              </a:rPr>
              <a:t>Write the paper's method and results sections; test why verifiers miss the worker's own errors; repeat the contamination tests with notes from other seeds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87168"/>
            <a:ext cx="141732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87168"/>
            <a:ext cx="14173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 – 15 Nov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65960" y="2487168"/>
            <a:ext cx="964692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2487168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82C35"/>
                </a:solidFill>
                <a:latin typeface="Calibri"/>
              </a:rPr>
              <a:t>Add one more model family to the shared-notebook and mitigation grids; human validation of the note labels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28416"/>
            <a:ext cx="141732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14173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16 – 30 Nov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65960" y="3328416"/>
            <a:ext cx="964692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3328416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82C35"/>
                </a:solidFill>
                <a:latin typeface="Calibri"/>
              </a:rPr>
              <a:t>Human audit of about 100 agent-written lessons; one more model family; bootstrap confidence intervals on every headline number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69664"/>
            <a:ext cx="141732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9664"/>
            <a:ext cx="14173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December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65960" y="4169664"/>
            <a:ext cx="964692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94560" y="4169664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82C35"/>
                </a:solidFill>
                <a:latin typeface="Calibri"/>
              </a:rPr>
              <a:t>Write the paper; prepare an anonymous code release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010912"/>
            <a:ext cx="141732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010912"/>
            <a:ext cx="14173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January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65960" y="5010912"/>
            <a:ext cx="964692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5010912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82C35"/>
                </a:solidFill>
                <a:latin typeface="Calibri"/>
              </a:rPr>
              <a:t>Supervisor review, then submit (ICML 2027, deadline expected late January, date to be confirmed). Backups: ACL Rolling Review, an ICLR 2027 workshop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HOW THE WORK WAS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Obstacles along the way, and what makes the results reproducible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394960" cy="40233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82296" cy="40233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46504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OBSTACLES AND HOW THEY WERE SOLVED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67128"/>
            <a:ext cx="493776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Free API tier: 50 requests a day, while one run needs about 400. Moved to open models run locally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The cluster's driver (535, CUDA 12.2) is too old for current Ollama and vLLM, which silently fall back to the CPU. A PyTorch (CUDA 12.1) backend with request batching works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Some nodes hand out 6 GB GPU slices. Jobs now exclude them and check the GPU size first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Early pilots showed nothing happens unless wrong answers reach the judge. A backup solver now supplies them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5394960" cy="40233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00200"/>
            <a:ext cx="82296" cy="40233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746504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E7D5B"/>
                </a:solidFill>
                <a:latin typeface="Calibri"/>
              </a:rPr>
              <a:t>REPRODUCIBILITY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167128"/>
            <a:ext cx="493776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2E7D5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All code is in coupled_misevolution/: loop, prompts, model backends, analysis and the 7 figures, which regenerate from the saved results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2E7D5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Fixed test items, seeds and prompts. Each result file keeps the configuration, per-round metrics, every agent's notes and per-item verdicts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2E7D5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PLAN.md logs the hypotheses, predictions and every design change with dates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2E7D5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Pushed to GitHub (github.com/Mayank471/Misevolutions, folder coupled_misevolution/). Data: the GSM8K test split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11064240" cy="65836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7607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Honest summary: the question has changed from 'does each layer drift' to 'does drift spread, and when'. The first answer is: not from a flawed reward alone, and only in some models through shared notes.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17320"/>
            <a:ext cx="128016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27632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62763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Misevolution is real and pervasive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Self-improvement can erode safety across model, memory, tool, and workflow — even on top-tier LLMs.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32304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32304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It's a NEW kind of risk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Emergent over time, self-generated, hard to control with training data, and spread across many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36976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36976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 reproduced 3 of 4 pathways with free models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Memory 76.9% unsafe · Tool 52% unsafe · Workflow refusal 100%→78% — same effects as the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041648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4th needs a bigger GPU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Model misevolution requires local 7B–70B checkpoints; wired and ready for ≥16 GB hardware.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46320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Current mitigations are only partial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Safer self-evolving agents need new safety frameworks — an open research problem.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650992"/>
            <a:ext cx="128016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65099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Beyond the paper: contagion is real but model-dependent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Early demos used hand-written memory. A controlled study on 6 models (Part VII): no reward-driven drift, but shared notes spread leniency between roles in some models.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661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7D0E0"/>
                </a:solidFill>
                <a:latin typeface="Calibri"/>
              </a:rPr>
              <a:t>Paper:  “Your Agent May Misevolve: Emergent Risks in Self-Evolving LLM Agents”, ICLR 2026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C7D0E0"/>
                </a:solidFill>
                <a:latin typeface="Calibri"/>
              </a:rPr>
              <a:t>Reproduction:  minimax-m3:free  ·  Memory + Tool + Workflow pathways  ·  results in RESULTS/FINDINGS.md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2A9D8F"/>
                </a:solidFill>
                <a:latin typeface="Calibri"/>
              </a:rPr>
              <a:t>Code, patches &amp; data:  RESULTS/  and  CHANGES_FREE_MODELS.md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