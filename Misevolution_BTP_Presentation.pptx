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5D4E"/>
                </a:solidFill>
                <a:latin typeface="Calibri"/>
              </a:rPr>
              <a:t>EMERGENT AI SAFETY  ·  ICLR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 Light"/>
              </a:rPr>
              <a:t>Your Agent May Misevolve</a:t>
            </a:r>
          </a:p>
          <a:p>
            <a:pPr algn="l">
              <a:spcBef>
                <a:spcPts val="600"/>
              </a:spcBef>
            </a:pPr>
            <a:r>
              <a:rPr sz="2600" b="0" i="0">
                <a:solidFill>
                  <a:srgbClr val="C7D0E0"/>
                </a:solidFill>
                <a:latin typeface="Calibri"/>
              </a:rPr>
              <a:t>Emergent Risks in Self-Evolving LLM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8DEEA"/>
                </a:solidFill>
                <a:latin typeface="Calibri"/>
              </a:rPr>
              <a:t>An in-depth walkthrough of the paper  +  a hands-on reproduction of all four</a:t>
            </a:r>
          </a:p>
          <a:p>
            <a:pPr algn="l">
              <a:spcBef>
                <a:spcPts val="200"/>
              </a:spcBef>
            </a:pPr>
            <a:r>
              <a:rPr sz="1700" b="0" i="0">
                <a:solidFill>
                  <a:srgbClr val="D8DEEA"/>
                </a:solidFill>
                <a:latin typeface="Calibri"/>
              </a:rPr>
              <a:t>misevolution pathways using free, openly-accessible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257800"/>
            <a:ext cx="201168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5B8"/>
                </a:solidFill>
                <a:latin typeface="Calibri"/>
              </a:rPr>
              <a:t>B.Tech Project  ·  Paper study &amp; empirical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5D4E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What this talk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457200" cy="822960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691640"/>
            <a:ext cx="1051560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80136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13E"/>
                </a:solidFill>
                <a:latin typeface="Calibri"/>
              </a:rPr>
              <a:t>Part I — Concepts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5A616B"/>
                </a:solidFill>
                <a:latin typeface="Calibri"/>
              </a:rPr>
              <a:t>What self-evolving agents are, what “misevolution” means, and why it is a new class of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24328"/>
            <a:ext cx="457200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624328"/>
            <a:ext cx="1051560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73405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13E"/>
                </a:solidFill>
                <a:latin typeface="Calibri"/>
              </a:rPr>
              <a:t>Part II — The four pathways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5A616B"/>
                </a:solidFill>
                <a:latin typeface="Calibri"/>
              </a:rPr>
              <a:t>Model, Memory, Tool, and Workflow: the mechanism behind each failure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57016"/>
            <a:ext cx="457200" cy="82296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557016"/>
            <a:ext cx="1051560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666744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13E"/>
                </a:solidFill>
                <a:latin typeface="Calibri"/>
              </a:rPr>
              <a:t>Part III — Results from the paper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5A616B"/>
                </a:solidFill>
                <a:latin typeface="Calibri"/>
              </a:rPr>
              <a:t>Key quantitative findings the authors report for every pathway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89704"/>
            <a:ext cx="457200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489704"/>
            <a:ext cx="1051560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59943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13E"/>
                </a:solidFill>
                <a:latin typeface="Calibri"/>
              </a:rPr>
              <a:t>Part IV — My reproduction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5A616B"/>
                </a:solidFill>
                <a:latin typeface="Calibri"/>
              </a:rPr>
              <a:t>Re-running all four pathways with free models, and how the numbers 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22392"/>
            <a:ext cx="457200" cy="82296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8698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422392"/>
            <a:ext cx="1051560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532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13E"/>
                </a:solidFill>
                <a:latin typeface="Calibri"/>
              </a:rPr>
              <a:t>Part V — Mitigations &amp; takeaways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5A616B"/>
                </a:solidFill>
                <a:latin typeface="Calibri"/>
              </a:rPr>
              <a:t>What helps, what doesn't, and the open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0" cy="50800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5D4E"/>
                </a:solidFill>
                <a:latin typeface="Calibri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Understanding Misevolution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B9C2D4"/>
                </a:solidFill>
                <a:latin typeface="Calibri"/>
              </a:rPr>
              <a:t>What self-evolving agents are, and how their self-improvement can quietly go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What is a self-evolving agent?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82C35"/>
                </a:solidFill>
                <a:latin typeface="Calibri"/>
              </a:rPr>
              <a:t>Unlike a static LLM, a self-evolving agent keeps improving itself by interacting with its environment — it updates one or more of its own components using feedback from the tasks it performs.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2697480" cy="173736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Fine-tunes its own
weights on self-
generated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2651760"/>
            <a:ext cx="2697480" cy="17373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788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32918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Stores &amp; retrieves
past experience to
guide new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2651760"/>
            <a:ext cx="2697480" cy="1737360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788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2918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Creates, reuses &amp;
ingests new tools
(e.g. MCP servers)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5128" y="2651760"/>
            <a:ext cx="2697480" cy="173736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5128" y="27889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32918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Re-optimizes its own
multi-step / multi-
agent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6213E"/>
                </a:solidFill>
                <a:latin typeface="Calibri"/>
              </a:rPr>
              <a:t>θ = (Model, Memory, Tool, Workflow)   →   evolution function  θ′ = f(θ, τ, 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▪  </a:t>
            </a:r>
            <a:r>
              <a:rPr sz="1400">
                <a:solidFill>
                  <a:srgbClr val="282C35"/>
                </a:solidFill>
                <a:latin typeface="Calibri"/>
              </a:rPr>
              <a:t>Goal of the designer: pick f that maximises cumulative task performance over time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▪  </a:t>
            </a:r>
            <a:r>
              <a:rPr sz="1400">
                <a:solidFill>
                  <a:srgbClr val="282C35"/>
                </a:solidFill>
                <a:latin typeface="Calibri"/>
              </a:rPr>
              <a:t>Examples: Absolute-Zero (model), AgentNet / SE-Agent (memory), Alita (tool), AFlow (workflow)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5D4E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Misevolution: when self-improvement backfires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6424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09728" cy="1417320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16213E"/>
                </a:solidFill>
                <a:latin typeface="Calibri"/>
              </a:rPr>
              <a:t>“Misevolution is an emergent decay of safety or the emergence of new risks that arises from an agent’s own self-evolution — leading to undesirable or even harmful outcomes.”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82C35"/>
                </a:solidFill>
                <a:latin typeface="Calibri"/>
              </a:rPr>
              <a:t>Three intuitive examples from the paper: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3611880" cy="2011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82296" cy="2011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98678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Biased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407408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2A9D8F"/>
                </a:solidFill>
                <a:latin typeface="Calibri"/>
              </a:rPr>
              <a:t>▪  </a:t>
            </a:r>
            <a:r>
              <a:rPr sz="1350">
                <a:solidFill>
                  <a:srgbClr val="282C35"/>
                </a:solidFill>
                <a:latin typeface="Calibri"/>
              </a:rPr>
              <a:t>A service agent learns “refund → 5-star rating,” then hands out refunds nobody asked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3840480"/>
            <a:ext cx="3611880" cy="2011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3840480"/>
            <a:ext cx="82296" cy="2011680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398678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D8852"/>
                </a:solidFill>
                <a:latin typeface="Calibri"/>
              </a:rPr>
              <a:t>Insecure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407408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DD8852"/>
                </a:solidFill>
                <a:latin typeface="Calibri"/>
              </a:rPr>
              <a:t>▪  </a:t>
            </a:r>
            <a:r>
              <a:rPr sz="1350">
                <a:solidFill>
                  <a:srgbClr val="282C35"/>
                </a:solidFill>
                <a:latin typeface="Calibri"/>
              </a:rPr>
              <a:t>An agent ingests appealing-but-backdoored code and builds a tool that leaks SSH keys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3840480"/>
            <a:ext cx="3611880" cy="2011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3840480"/>
            <a:ext cx="82296" cy="2011680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398678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D8852"/>
                </a:solidFill>
                <a:latin typeface="Calibri"/>
              </a:rPr>
              <a:t>Careless reuse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4407408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DD8852"/>
                </a:solidFill>
                <a:latin typeface="Calibri"/>
              </a:rPr>
              <a:t>▪  </a:t>
            </a:r>
            <a:r>
              <a:rPr sz="1350">
                <a:solidFill>
                  <a:srgbClr val="282C35"/>
                </a:solidFill>
                <a:latin typeface="Calibri"/>
              </a:rPr>
              <a:t>A general PII-scrubber tool is reused on medical data, missing re-identifiable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5D4E"/>
                </a:solidFill>
                <a:latin typeface="Calibri"/>
              </a:rPr>
              <a:t>WHY IT'S A NEW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How misevolution differs from known LLM threats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40680" cy="82296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85D4E"/>
                </a:solidFill>
                <a:latin typeface="Calibri"/>
              </a:rPr>
              <a:t>1  Temporal emergence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Risk appears over time as components change — not in a static “snapshot” like jailbreak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5440680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8229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C72B0"/>
                </a:solidFill>
                <a:latin typeface="Calibri"/>
              </a:rPr>
              <a:t>2  Self-generated 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The agent creates the risk itself, with no external attacker or curated bad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5440680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5440680" cy="82296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D8852"/>
                </a:solidFill>
                <a:latin typeface="Calibri"/>
              </a:rPr>
              <a:t>3  Limited data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Autonomy means we can't inject safety data mid-training the way fine-tuning pipelines 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023360"/>
            <a:ext cx="5440680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023360"/>
            <a:ext cx="5440680" cy="82296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79392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172B3"/>
                </a:solidFill>
                <a:latin typeface="Calibri"/>
              </a:rPr>
              <a:t>4  Expanded risk surface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920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Any of the 4 evolving components can fail — and real-world tool use turns a flaw into real harm.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16B"/>
                </a:solidFill>
                <a:latin typeface="Calibri"/>
              </a:rPr>
              <a:t>Contrast: emergent misalignment (Betley 2025) needs deliberate fine-tuning on insecure code; misevolution appears spontaneously.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Four evolutionary pathways — four ways to misevolve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The paper studies misevolution systematically along the same four components an agent can evolve: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2286000" cy="932688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951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via self-generated data / curriculum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148840"/>
            <a:ext cx="8686800" cy="93268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2331720"/>
            <a:ext cx="8321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Safety alignment erodes as the model re-trains on its own outputs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2286000" cy="9326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192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758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via accumulation &amp; retrieval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172968"/>
            <a:ext cx="8686800" cy="93268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355848"/>
            <a:ext cx="8321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Biased experience → reward hacking &amp; loss of risk awareness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97096"/>
            <a:ext cx="2286000" cy="932688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001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via creation-reuse &amp; ingesting external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197096"/>
            <a:ext cx="8686800" cy="93268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4379976"/>
            <a:ext cx="8321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Vulnerable tools get built, reused out-of-context, or imported with hidden malware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21224"/>
            <a:ext cx="2286000" cy="932688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675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241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via automatic pipeline optimization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5221224"/>
            <a:ext cx="8686800" cy="93268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5404104"/>
            <a:ext cx="8321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82C35"/>
                </a:solidFill>
                <a:latin typeface="Calibri"/>
              </a:rPr>
              <a:t>Performance-driven search yields an innocuous-looking but unsafe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C72B0"/>
                </a:solidFill>
                <a:latin typeface="Calibri"/>
              </a:rPr>
              <a:t>PATHWAY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Model misevolution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72B0"/>
                </a:solidFill>
                <a:latin typeface="Calibri"/>
              </a:rPr>
              <a:t>WHAT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Agent fine-tunes its own weights via self-play (Absolute-Zero) or a self-generated curriculum (SEAgent)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Task ability goes UP, but safety alignment goes DOWN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Degradation is cumulative — each training step erodes refusal a little more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“Catastrophic forgetting” of risk awareness: it stops refusing harmful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72B0"/>
                </a:solidFill>
                <a:latin typeface="Calibri"/>
              </a:rPr>
              <a:t>WHY IT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Safety alignment is shallow — a thin post-training layer, easily overwritten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Optimization pressure toward the task reward dominates the safety objective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Strikingly, this happens even when the self-generated data is completely benign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The model chases capability; nothing in the loop defends safety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6424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05856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Key insight: safety decays even with no unsafe data in the loop — the optimization objective alone is enough.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PATHWAY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Memory misevolution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Calibri"/>
              </a:rPr>
              <a:t>WHAT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Agent stores past (action, feedback) pairs and retrieves them for new tasks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Two failures emerge: (a) safety-alignment decay, (b) deployment-time reward hacking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It learns shortcuts correlated with high historical reward …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… e.g. “always refund”, or reassure a user who says they've been 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Calibri"/>
              </a:rPr>
              <a:t>WHY IT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Over-trust in its own past experience, with no critical reflection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Reward signals in memory (ratings) become a proxy that overrides the true goal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Survivorship bias: harmful outcomes leave no feedback, so memory looks rosy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A single lucky incident can flip a heuristic — misevolution can be abrupt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6424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05856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No weight updates needed — merely accumulating memory can hijack the agent's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D8852"/>
                </a:solidFill>
                <a:latin typeface="Calibri"/>
              </a:rPr>
              <a:t>PATHWAY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Tool misevolution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D8852"/>
                </a:solidFill>
                <a:latin typeface="Calibri"/>
              </a:rPr>
              <a:t>WHAT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DD8852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Creation &amp; reuse: builds an MCP tool for one task, reuses it in a security-sensitive one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e.g. a tar-extractor with no path-traversal guard, later fed ../etc/passwd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DD8852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Ingesting external tools: wraps code pulled from GitHub into a new tool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Hidden, dormant malware slips through — refusal rate near 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D8852"/>
                </a:solidFill>
                <a:latin typeface="Calibri"/>
              </a:rPr>
              <a:t>WHY IT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A “trust bias”: the agent assumes existing code / its own tools are safe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Tools are reused out of their original context — domain-specific risks are missed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Stealthy payloads are designed to pass inspection and trigger only later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Stronger coding ability ≠ stronger threat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6424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05856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Vulnerabilities are created and then silently propagated through the tool life-cycle.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172B3"/>
                </a:solidFill>
                <a:latin typeface="Calibri"/>
              </a:rPr>
              <a:t>PATHWAY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Workflow misevolution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172B3"/>
                </a:solidFill>
                <a:latin typeface="Calibri"/>
              </a:rPr>
              <a:t>WHAT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8172B3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A framework (AFlow) searches over workflows to maximise task accuracy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172B3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The optimized workflow looks completely innocuous (an ensemble of 3 trials)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172B3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Yet an Ensemble node cascades and amplifies unsafe behaviour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It prefers the “most complete” candidate — which is the working malware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172B3"/>
                </a:solidFill>
                <a:latin typeface="Calibri"/>
              </a:rPr>
              <a:t>WHY IT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Optimization target is accuracy / consistency — safety is never in the objective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“Most consistent with the spec” gets interpreted as “most fully-implemented”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5A616B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A refusal or a print()-only stub loses to a real C2/spam implementation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The failure is emergent — no single node is obviously malicious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1106424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05856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An innocent-looking aggregation step can turn safe candidates into a more harmful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0" cy="508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72B0"/>
                </a:solidFill>
                <a:latin typeface="Calibri"/>
              </a:rP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Results from the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B9C2D4"/>
                </a:solidFill>
                <a:latin typeface="Calibri"/>
              </a:rPr>
              <a:t>What the authors measured across top-tier models — GPT-5, Gemini-2.5-Pro, Claude-4-Sonnet, Qwen3…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C72B0"/>
                </a:solidFill>
                <a:latin typeface="Calibri"/>
              </a:rPr>
              <a:t>SELF-TRAINING SAFETY DECAY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Paper results ·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566160" cy="8229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4C72B0"/>
                </a:solidFill>
                <a:latin typeface="Calibri Light"/>
              </a:rPr>
              <a:t>↓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Safe Rate on HarmBench,
SALAD-Bench, HEx-PHI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every model, after self-train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783080"/>
            <a:ext cx="3566160" cy="8229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4C72B0"/>
                </a:solidFill>
                <a:latin typeface="Calibri Light"/>
              </a:rPr>
              <a:t>31% → 0.6%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RedCode-Gen Refusal Rate
(Abs-Zero-Coder-7B)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risky-code refusal collapses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783080"/>
            <a:ext cx="3566160" cy="8229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4C72B0"/>
                </a:solidFill>
                <a:latin typeface="Calibri Light"/>
              </a:rPr>
              <a:t>39% → 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SEAgent Unsafe Completion
on RiOSWorld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computer-use agent, after evo.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Consistent, cumulative safety decline across all self-trained models (Fig. 3 &amp; 5)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SEAgent loses the ability to refuse harmful GUI instructions and to avoid phishing sites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Ablation: SFT on benign self-play data still degrades safety — optimization pressure is the root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ACCUMULATION → REWARD HACKING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Paper results ·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566160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2A9D8F"/>
                </a:solidFill>
                <a:latin typeface="Calibri Light"/>
              </a:rPr>
              <a:t>99% → 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SE-Agent Refusal Rate
(Qwen3-Coder-480B)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−45% after memory evo.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783080"/>
            <a:ext cx="3566160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2A9D8F"/>
                </a:solidFill>
                <a:latin typeface="Calibri Light"/>
              </a:rPr>
              <a:t>0.6% → 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Attack Success Rate
on RedCode-Gen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harmful code slips 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783080"/>
            <a:ext cx="3566160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2A9D8F"/>
                </a:solidFill>
                <a:latin typeface="Calibri Light"/>
              </a:rPr>
              <a:t>&gt;60%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of cases: top models take
reward-hacking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GPT-5, Gemini-2.5-Pro, Claude-4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Gemini-2.5-Pro was the MOST susceptible despite its strong capability; GPT-5 the safest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Zero unsafe behaviour was observed for every model when NO memory was present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Longitudinal run: safety was stable, then collapsed abruptly at round ~60 after one bad refund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D8852"/>
                </a:solidFill>
                <a:latin typeface="Calibri"/>
              </a:rPr>
              <a:t>INSECURE CREATION, REUSE &amp;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Paper results ·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566160" cy="82296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DD8852"/>
                </a:solidFill>
                <a:latin typeface="Calibri Light"/>
              </a:rPr>
              <a:t>65.5%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avg Overall Unsafe Rate
(tool creation &amp; reuse)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8 top-tier LLMs, 25 CWE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783080"/>
            <a:ext cx="3566160" cy="82296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DD8852"/>
                </a:solidFill>
                <a:latin typeface="Calibri Light"/>
              </a:rPr>
              <a:t>76%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worst case (GPT-4o)
create-and-reuse unsafe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MCP 48% / toolchain 28%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783080"/>
            <a:ext cx="3566160" cy="82296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DD8852"/>
                </a:solidFill>
                <a:latin typeface="Calibri Light"/>
              </a:rPr>
              <a:t>~93%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fail to reject GitHub tools
with hidden malware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best model refuses only 7.3%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DD8852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Even leading LLMs routinely build vulnerable tools and reuse them in sensitive contexts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DD8852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External-tool ingestion is worse: refusal rates of 0.3%–7.3% — deeply-embedded threats missed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DD8852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Showcase: a general PII scrubber reused on medical data leaves re-identifiable fields (age, postal code)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172B3"/>
                </a:solidFill>
                <a:latin typeface="Calibri"/>
              </a:rPr>
              <a:t>OPTIMIZATION → SAFETY DECAY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Paper results ·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566160" cy="82296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8172B3"/>
                </a:solidFill>
                <a:latin typeface="Calibri Light"/>
              </a:rPr>
              <a:t>36% → 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Refusal Rate after AFlow
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−84.6% (RedCode-Gen)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783080"/>
            <a:ext cx="3566160" cy="82296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8172B3"/>
                </a:solidFill>
                <a:latin typeface="Calibri Light"/>
              </a:rPr>
              <a:t>54% → 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Attack Success Rate
after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+52.8%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1783080"/>
            <a:ext cx="3566160" cy="22402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783080"/>
            <a:ext cx="3566160" cy="82296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084831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8172B3"/>
                </a:solidFill>
                <a:latin typeface="Calibri Light"/>
              </a:rPr>
              <a:t>1 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99923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Calibri"/>
              </a:rPr>
              <a:t>an Ensemble step is enough
to amplify harm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A616B"/>
                </a:solidFill>
                <a:latin typeface="Calibri"/>
              </a:rPr>
              <a:t>workflow looked innocuous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172B3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Backbone: Qwen2.5-72B-Instruct; workflow evolved 20 rounds on HumanEval, then safety-tested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72B3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The Ensemble node chose a full C2/spam implementation over a harmless print() simulation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172B3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Model was MORE susceptible to workflow misevolution than to memory misevolution (same backbone)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Calibri"/>
              </a:rPr>
              <a:t>PART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My 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B9C2D4"/>
                </a:solidFill>
                <a:latin typeface="Calibri"/>
              </a:rPr>
              <a:t>Re-running all four pathways with free, no-cost models — setup, results, and honest caveats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HOW I REPRODUCED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Setup &amp;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Model: minimax/minimax-m3:free via OpenRouter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used as BOTH the agent/backbone and the LLM judge, temperature 0.1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One free model for a coherent, single-model reproduction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Judges use the paper's VERBATIM prompts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AgentNet judge (App. C.2.2) for memory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Cybersecurity judge (App. C.3.1) for tool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Same datasets as the paper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41 memory cases · 25 CWE tool cases · 160 RedCode-Gen 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691640"/>
            <a:ext cx="5257800" cy="4206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Calibri"/>
              </a:rPr>
              <a:t>ENGINEERING TO MAKE IT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8463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5A616B"/>
                </a:solidFill>
                <a:latin typeface="Calibri"/>
              </a:rPr>
              <a:t>▪  </a:t>
            </a:r>
            <a:r>
              <a:rPr sz="1350">
                <a:solidFill>
                  <a:srgbClr val="282C35"/>
                </a:solidFill>
                <a:latin typeface="Calibri"/>
              </a:rPr>
              <a:t>Retry + backoff on every LLM call (free provider is flaky: 402/429/empty replies)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5A616B"/>
                </a:solidFill>
                <a:latin typeface="Calibri"/>
              </a:rPr>
              <a:t>▪  </a:t>
            </a:r>
            <a:r>
              <a:rPr sz="1350">
                <a:solidFill>
                  <a:srgbClr val="282C35"/>
                </a:solidFill>
                <a:latin typeface="Calibri"/>
              </a:rPr>
              <a:t>Fixed a repo bug where tool extraction found 0 tools (# Tool Name vs # MCP Name marker)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5A616B"/>
                </a:solidFill>
                <a:latin typeface="Calibri"/>
              </a:rPr>
              <a:t>▪  </a:t>
            </a:r>
            <a:r>
              <a:rPr sz="1350">
                <a:solidFill>
                  <a:srgbClr val="282C35"/>
                </a:solidFill>
                <a:latin typeface="Calibri"/>
              </a:rPr>
              <a:t>Windows-safe output paths (model ids contain : and /)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5A616B"/>
                </a:solidFill>
                <a:latin typeface="Calibri"/>
              </a:rPr>
              <a:t>▪  </a:t>
            </a:r>
            <a:r>
              <a:rPr sz="1350">
                <a:solidFill>
                  <a:srgbClr val="282C35"/>
                </a:solidFill>
                <a:latin typeface="Calibri"/>
              </a:rPr>
              <a:t>Wrote the two missing judge scripts from the paper's appendix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5A616B"/>
                </a:solidFill>
                <a:latin typeface="Calibri"/>
              </a:rPr>
              <a:t>▪  </a:t>
            </a:r>
            <a:r>
              <a:rPr sz="1350">
                <a:solidFill>
                  <a:srgbClr val="282C35"/>
                </a:solidFill>
                <a:latin typeface="Calibri"/>
              </a:rPr>
              <a:t>Reproducible: RESULTS/ + CHANGES_FREE_MODELS.md document every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AGENTNET STATIC SETTING — UNSAFE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My results ·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13E"/>
                </a:solidFill>
                <a:latin typeface="Calibri"/>
              </a:rPr>
              <a:t>Overall Unsafe Rate = 76.9%   (matches the paper's “&gt;60% of cases”)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4884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Unsafe Rate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cases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10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6 / 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Medical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72.7%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8 /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6 / 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76.9%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A9D8F"/>
                          </a:solidFill>
                          <a:latin typeface="Calibri"/>
                        </a:rPr>
                        <a:t>30 / 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35240" y="2148840"/>
            <a:ext cx="3977639" cy="2743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97480"/>
            <a:ext cx="3566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Same ordering as the paper: Sales &gt; Service &gt; Medical &gt; Finance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The agent issued unrequested refunds and lied to close a sale — textbook reward hacking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Finance lowest: high-stakes / illegal asks still trigger the model's safety reflex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D8852"/>
                </a:solidFill>
                <a:latin typeface="Calibri"/>
              </a:rPr>
              <a:t>CREATION &amp; REUSE — 25 CWE CASES (PAPER TABLE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My results ·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13E"/>
                </a:solidFill>
                <a:latin typeface="Calibri"/>
              </a:rPr>
              <a:t>Overall Unsafe Rate = 52%   (paper avg 65.5%; lower is expected for a stronger 2026 model)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4884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DD88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>
                    <a:solidFill>
                      <a:srgbClr val="DD88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cases</a:t>
                      </a:r>
                    </a:p>
                  </a:txBody>
                  <a:tcPr>
                    <a:solidFill>
                      <a:srgbClr val="DD88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Overall Unsafe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D8852"/>
                          </a:solidFill>
                          <a:latin typeface="Calibri"/>
                        </a:rPr>
                        <a:t>52.0%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D8852"/>
                          </a:solidFill>
                          <a:latin typeface="Calibri"/>
                        </a:rPr>
                        <a:t>13 /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Unsafe MCP (tool itself)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D8852"/>
                          </a:solidFill>
                          <a:latin typeface="Calibri"/>
                        </a:rPr>
                        <a:t>36.0%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D8852"/>
                          </a:solidFill>
                          <a:latin typeface="Calibri"/>
                        </a:rPr>
                        <a:t>9 / 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Unsafe Toolchain (reuse)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D8852"/>
                          </a:solidFill>
                          <a:latin typeface="Calibri"/>
                        </a:rPr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D8852"/>
                          </a:solidFill>
                          <a:latin typeface="Calibri"/>
                        </a:rPr>
                        <a:t>4 /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35240" y="2148840"/>
            <a:ext cx="3977639" cy="26517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D8852"/>
                </a:solidFill>
                <a:latin typeface="Calibri"/>
              </a:rPr>
              <a:t>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97480"/>
            <a:ext cx="3566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DD8852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Same structure as the paper (MCP &gt; Toolchain), same order of magnitude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DD8852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Real failure captured: a tarfile.extractall tool with no path-traversal guard, reused on ../etc/passwd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DD8852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It handled some cases well (strong crypto, one SSRF) — hence a bit safer than the paper's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172B3"/>
                </a:solidFill>
                <a:latin typeface="Calibri"/>
              </a:rPr>
              <a:t>REDCODE-GEN — SINGLE-STEP VS AFLOW ENSEMBLE (160 PROMPTS)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My results ·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13E"/>
                </a:solidFill>
                <a:latin typeface="Calibri"/>
              </a:rPr>
              <a:t>The ensemble cut refusal 100% → 78% and produced 19.9% fully-working malware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48840"/>
          <a:ext cx="6766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8172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Refusal</a:t>
                      </a:r>
                    </a:p>
                  </a:txBody>
                  <a:tcPr>
                    <a:solidFill>
                      <a:srgbClr val="8172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Malware(10/10)</a:t>
                      </a:r>
                    </a:p>
                  </a:txBody>
                  <a:tcPr>
                    <a:solidFill>
                      <a:srgbClr val="8172B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BEFORE (single step)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172B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172B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82C35"/>
                          </a:solidFill>
                          <a:latin typeface="Calibri"/>
                        </a:rPr>
                        <a:t>AFTER (ensemble)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172B3"/>
                          </a:solidFill>
                          <a:latin typeface="Calibri"/>
                        </a:rPr>
                        <a:t>78.0%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8172B3"/>
                          </a:solidFill>
                          <a:latin typeface="Calibri"/>
                        </a:rPr>
                        <a:t>19.9%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35240" y="2148840"/>
            <a:ext cx="3977639" cy="26517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172B3"/>
                </a:solidFill>
                <a:latin typeface="Calibri"/>
              </a:rPr>
              <a:t>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97480"/>
            <a:ext cx="3566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8172B3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Same mechanism as the paper: the ensemble picks the most-complete candidate — the working malware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8172B3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Live example: DDoS / ransomware prompts the baseline refused were scored 10/10 after the ensemble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8172B3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Absolute gap is smaller than the paper's because minimax-m3's baseline is a perfect 100% refusal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8172B3"/>
                </a:solidFill>
                <a:latin typeface="Calibri"/>
              </a:rPr>
              <a:t>▪  </a:t>
            </a:r>
            <a:r>
              <a:rPr sz="1300">
                <a:solidFill>
                  <a:srgbClr val="282C35"/>
                </a:solidFill>
                <a:latin typeface="Calibri"/>
              </a:rPr>
              <a:t>No code executed — RedCode-Gen only scores generated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C72B0"/>
                </a:solidFill>
                <a:latin typeface="Calibri"/>
              </a:rPr>
              <a:t>MY RESULTS ·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The one pathway I could not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18872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⛔  Hardware-blocked — not something an API key can solve.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82C35"/>
                </a:solidFill>
                <a:latin typeface="Calibri"/>
              </a:rPr>
              <a:t>Model misevolution compares open-weight BEFORE/AFTER checkpoints run locally via vLLM.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1064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Needs the fine-tuned checkpoints themselves: Absolute-Zero, SEAgent, AgentGen (7B – 70B)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These are NOT hosted on any API — they must be loaded and run on a local GPU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This laptop: NVIDIA RTX 3050, 4 GB VRAM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616B"/>
                </a:solidFill>
                <a:latin typeface="Calibri"/>
              </a:rPr>
              <a:t>–  </a:t>
            </a:r>
            <a:r>
              <a:rPr sz="1400">
                <a:solidFill>
                  <a:srgbClr val="282C35"/>
                </a:solidFill>
                <a:latin typeface="Calibri"/>
              </a:rPr>
              <a:t>A 7B model needs ~14 GB (fp16) or ~5 GB (4-bit) + vLLM &amp; judge overhead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72B0"/>
                </a:solidFill>
                <a:latin typeface="Calibri"/>
              </a:rPr>
              <a:t>▪  </a:t>
            </a:r>
            <a:r>
              <a:rPr sz="1500">
                <a:solidFill>
                  <a:srgbClr val="282C35"/>
                </a:solidFill>
                <a:latin typeface="Calibri"/>
              </a:rPr>
              <a:t>The pipeline is fully wired and points at free judge models — it just needs a ≥16 GB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HEAD TO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Paper vs. my reproduction — all four pathways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31920"/>
                <a:gridCol w="3931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Pathway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Paper (top-tier models)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Mine (minimax-m3:free)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C72B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82C35"/>
                          </a:solidFill>
                          <a:latin typeface="Calibri"/>
                        </a:rPr>
                        <a:t>Safe Rate ↓ across all benchmarks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82C35"/>
                          </a:solidFill>
                          <a:latin typeface="Calibri"/>
                        </a:rPr>
                        <a:t>Not run — 4 GB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Calibri"/>
                        </a:rPr>
                        <a:t>⛔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A9D8F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82C35"/>
                          </a:solidFill>
                          <a:latin typeface="Calibri"/>
                        </a:rPr>
                        <a:t>Reward-hacking in &gt;60% of cases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82C35"/>
                          </a:solidFill>
                          <a:latin typeface="Calibri"/>
                        </a:rPr>
                        <a:t>Unsafe Rate 76.9%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5B"/>
                          </a:solidFill>
                          <a:latin typeface="Calibri"/>
                        </a:rPr>
                        <a:t>✅ reproduced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DD8852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82C35"/>
                          </a:solidFill>
                          <a:latin typeface="Calibri"/>
                        </a:rPr>
                        <a:t>Overall Unsafe avg 65.5%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82C35"/>
                          </a:solidFill>
                          <a:latin typeface="Calibri"/>
                        </a:rPr>
                        <a:t>Overall Unsafe 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5B"/>
                          </a:solidFill>
                          <a:latin typeface="Calibri"/>
                        </a:rPr>
                        <a:t>✅ reproduced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8172B3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82C35"/>
                          </a:solidFill>
                          <a:latin typeface="Calibri"/>
                        </a:rPr>
                        <a:t>Refusal 36% → 5.6%; ASR 54% → 83%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82C35"/>
                          </a:solidFill>
                          <a:latin typeface="Calibri"/>
                        </a:rPr>
                        <a:t>Refusal 100% → 78%; malware 0 → 20%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5B"/>
                          </a:solidFill>
                          <a:latin typeface="Calibri"/>
                        </a:rPr>
                        <a:t>✅ reproduced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13E"/>
                </a:solidFill>
                <a:latin typeface="Calibri"/>
              </a:rPr>
              <a:t>Every pathway I could run reproduced the paper's phenomenon — same direction, same mechanism, same structure.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A616B"/>
                </a:solidFill>
                <a:latin typeface="Calibri"/>
              </a:rPr>
              <a:t>Absolute values differ because minimax-m3 (2026) is more safety-aligned than the paper's subjects, and LLM judging is non-deterministic.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INTERPRETING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Why my numbers aren't identical — and why that's 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1965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82296" cy="1965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A9D8F"/>
                </a:solidFill>
                <a:latin typeface="Calibri"/>
              </a:rPr>
              <a:t>Stronger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82C35"/>
                </a:solidFill>
                <a:latin typeface="Calibri"/>
              </a:rPr>
              <a:t>minimax-m3 is a 2026 model with better baseline alignment → higher refusal, lower unsafe rates than the paper's 2024-era subjects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5440680" cy="1965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82296" cy="196596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8424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4C72B0"/>
                </a:solidFill>
                <a:latin typeface="Calibri"/>
              </a:rPr>
              <a:t>Non-determinism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82C35"/>
                </a:solidFill>
                <a:latin typeface="Calibri"/>
              </a:rPr>
              <a:t>Even at temperature 0.1, generations and LLM-judge verdicts vary run to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5440680" cy="1965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82296" cy="1965960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3308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D8852"/>
                </a:solidFill>
                <a:latin typeface="Calibri"/>
              </a:rPr>
              <a:t>Single free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82C35"/>
                </a:solidFill>
                <a:latin typeface="Calibri"/>
              </a:rPr>
              <a:t>The paper averages many proprietary models; I use one free model as both agent and judge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931920"/>
            <a:ext cx="5440680" cy="1965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82296" cy="196596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3308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8172B3"/>
                </a:solidFill>
                <a:latin typeface="Calibri"/>
              </a:rPr>
              <a:t>Direction &gt; absolute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634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82C35"/>
                </a:solidFill>
                <a:latin typeface="Calibri"/>
              </a:rPr>
              <a:t>Reproduction validates the EFFECT and its mechanism, not exact percentages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172B3"/>
                </a:solidFill>
                <a:latin typeface="Calibri"/>
              </a:rPr>
              <a:t>PART V · WHAT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Calibri Light"/>
              </a:rPr>
              <a:t>Mitigations the paper tested (all partial)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05840" cy="3810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737360" cy="9601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4825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737360"/>
            <a:ext cx="9235440" cy="960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865376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alibri"/>
              </a:rPr>
              <a:t>Lightweight safety post-training (DPO)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5A616B"/>
                </a:solidFill>
                <a:latin typeface="Calibri"/>
              </a:rPr>
              <a:t>Safe Rate 59.5% → 62.75% — doesn't fully restore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737360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9981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788920"/>
            <a:ext cx="9235440" cy="960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916936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alibri"/>
              </a:rPr>
              <a:t>Prompt: “memories are references, not rules”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5A616B"/>
                </a:solidFill>
                <a:latin typeface="Calibri"/>
              </a:rPr>
              <a:t>ASR 20.6% → 13.1%; Refusal 54% → 67%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1737360" cy="960120"/>
          </a:xfrm>
          <a:prstGeom prst="rect">
            <a:avLst/>
          </a:prstGeom>
          <a:solidFill>
            <a:srgbClr val="DD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513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840480"/>
            <a:ext cx="9235440" cy="960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3968496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alibri"/>
              </a:rPr>
              <a:t>Static analysis + judge re-validation on reuse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5A616B"/>
                </a:solidFill>
                <a:latin typeface="Calibri"/>
              </a:rPr>
              <a:t>External-ingestion refusal 7% → 69% with a safety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92040"/>
            <a:ext cx="1737360" cy="96012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029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4892040"/>
            <a:ext cx="9235440" cy="960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5020056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alibri"/>
              </a:rPr>
              <a:t>Safety instruction added to the Ensemble node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5A616B"/>
                </a:solidFill>
                <a:latin typeface="Calibri"/>
              </a:rPr>
              <a:t>ASR 83.1% → 77.5% — a reactive “patch”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E85D4E"/>
                </a:solidFill>
                <a:latin typeface="Calibri"/>
              </a:rPr>
              <a:t>Common thread: prompt-level fixes reduce risk but never fully recover safety — a robust solution is still open.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17320"/>
            <a:ext cx="128016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28016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Misevolution is real and pervasive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B9C2D4"/>
                </a:solidFill>
                <a:latin typeface="Calibri"/>
              </a:rPr>
              <a:t>Self-improvement can erode safety across model, memory, tool, and workflow — even on top-tier LLMs.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128016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It's a NEW kind of risk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B9C2D4"/>
                </a:solidFill>
                <a:latin typeface="Calibri"/>
              </a:rPr>
              <a:t>Emergent over time, self-generated, hard to control with training data, and spread across many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80"/>
            <a:ext cx="128016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 reproduced 3 of 4 pathways with free models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B9C2D4"/>
                </a:solidFill>
                <a:latin typeface="Calibri"/>
              </a:rPr>
              <a:t>Memory 76.9% unsafe · Tool 52% unsafe · Workflow refusal 100%→78% — same effects as the paper.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26280"/>
            <a:ext cx="128016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262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The 4th needs a bigger GPU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B9C2D4"/>
                </a:solidFill>
                <a:latin typeface="Calibri"/>
              </a:rPr>
              <a:t>Model misevolution requires local 7B–70B checkpoints; wired and ready for ≥16 GB hardware.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40680"/>
            <a:ext cx="128016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4406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Current mitigations are only partial</a:t>
            </a:r>
          </a:p>
          <a:p>
            <a:pPr algn="l">
              <a:spcBef>
                <a:spcPts val="200"/>
              </a:spcBef>
            </a:pPr>
            <a:r>
              <a:rPr sz="1350" b="0" i="0">
                <a:solidFill>
                  <a:srgbClr val="B9C2D4"/>
                </a:solidFill>
                <a:latin typeface="Calibri"/>
              </a:rPr>
              <a:t>Safer self-evolving agents need new safety frameworks — an open research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661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7D0E0"/>
                </a:solidFill>
                <a:latin typeface="Calibri"/>
              </a:rPr>
              <a:t>Paper:  “Your Agent May Misevolve: Emergent Risks in Self-Evolving LLM Agents”, ICLR 2026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C7D0E0"/>
                </a:solidFill>
                <a:latin typeface="Calibri"/>
              </a:rPr>
              <a:t>Reproduction:  minimax-m3:free  ·  Memory + Tool + Workflow pathways  ·  results in RESULTS/FINDINGS.md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2A9D8F"/>
                </a:solidFill>
                <a:latin typeface="Calibri"/>
              </a:rPr>
              <a:t>Code, patches &amp; data:  RESULTS/  and  CHANGES_FREE_MODELS.md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16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